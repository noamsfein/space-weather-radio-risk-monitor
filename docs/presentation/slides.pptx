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6e907e54ae4a0a" /><Relationship Type="http://schemas.openxmlformats.org/officeDocument/2006/relationships/extended-properties" Target="/docProps/app.xml" Id="R306d7db25e1e4855" /><Relationship Type="http://schemas.openxmlformats.org/officeDocument/2006/relationships/officeDocument" Target="/ppt/presentation.xml" Id="R43442c1124c2464b" /></Relationships>
</file>

<file path=ppt/presentation.xml><?xml version="1.0" encoding="utf-8"?>
<p:presentation xmlns:p="http://schemas.openxmlformats.org/presentationml/2006/main">
  <p:sldMasterIdLst>
    <p:sldMasterId xmlns:r="http://schemas.openxmlformats.org/officeDocument/2006/relationships" id="2147483648" r:id="Ra049b71ac8234833"/>
  </p:sldMasterIdLst>
  <p:notesMasterIdLst>
    <p:notesMasterId xmlns:r="http://schemas.openxmlformats.org/officeDocument/2006/relationships" r:id="R4e4d8c8b181044a6"/>
  </p:notesMasterIdLst>
  <p:sldIdLst>
    <p:sldId xmlns:r="http://schemas.openxmlformats.org/officeDocument/2006/relationships" id="256" r:id="Rdd45375647e54fcc"/>
    <p:sldId xmlns:r="http://schemas.openxmlformats.org/officeDocument/2006/relationships" id="257" r:id="Re126dcb4010d4aeb"/>
    <p:sldId xmlns:r="http://schemas.openxmlformats.org/officeDocument/2006/relationships" id="258" r:id="Rd1f30e7e4fd14a53"/>
    <p:sldId xmlns:r="http://schemas.openxmlformats.org/officeDocument/2006/relationships" id="259" r:id="R14e8cce976b04c08"/>
    <p:sldId xmlns:r="http://schemas.openxmlformats.org/officeDocument/2006/relationships" id="260" r:id="R80e3a260e9464482"/>
    <p:sldId xmlns:r="http://schemas.openxmlformats.org/officeDocument/2006/relationships" id="261" r:id="R4a95e75210a24e7c"/>
    <p:sldId xmlns:r="http://schemas.openxmlformats.org/officeDocument/2006/relationships" id="262" r:id="R7f9139bccca14f74"/>
    <p:sldId xmlns:r="http://schemas.openxmlformats.org/officeDocument/2006/relationships" id="263" r:id="R0ad370c4dfd24aa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1bf335677041c3" /><Relationship Type="http://schemas.openxmlformats.org/officeDocument/2006/relationships/slideMaster" Target="/ppt/slideMasters/slideMaster1.xml" Id="Ra049b71ac8234833" /><Relationship Type="http://schemas.openxmlformats.org/officeDocument/2006/relationships/notesMaster" Target="/ppt/notesMasters/notesMaster1.xml" Id="R4e4d8c8b181044a6" /><Relationship Type="http://schemas.openxmlformats.org/officeDocument/2006/relationships/presProps" Target="/ppt/presProps.xml" Id="R6c6d975c99de4b9f" /><Relationship Type="http://schemas.openxmlformats.org/officeDocument/2006/relationships/tableStyles" Target="/ppt/tableStyles.xml" Id="Rb7d0a5996c7b4863" /><Relationship Type="http://schemas.openxmlformats.org/officeDocument/2006/relationships/slide" Target="/ppt/slides/slide1.xml" Id="Rdd45375647e54fcc" /><Relationship Type="http://schemas.openxmlformats.org/officeDocument/2006/relationships/slide" Target="/ppt/slides/slide2.xml" Id="Re126dcb4010d4aeb" /><Relationship Type="http://schemas.openxmlformats.org/officeDocument/2006/relationships/slide" Target="/ppt/slides/slide3.xml" Id="Rd1f30e7e4fd14a53" /><Relationship Type="http://schemas.openxmlformats.org/officeDocument/2006/relationships/slide" Target="/ppt/slides/slide4.xml" Id="R14e8cce976b04c08" /><Relationship Type="http://schemas.openxmlformats.org/officeDocument/2006/relationships/slide" Target="/ppt/slides/slide5.xml" Id="R80e3a260e9464482" /><Relationship Type="http://schemas.openxmlformats.org/officeDocument/2006/relationships/slide" Target="/ppt/slides/slide6.xml" Id="R4a95e75210a24e7c" /><Relationship Type="http://schemas.openxmlformats.org/officeDocument/2006/relationships/slide" Target="/ppt/slides/slide7.xml" Id="R7f9139bccca14f74" /><Relationship Type="http://schemas.openxmlformats.org/officeDocument/2006/relationships/slide" Target="/ppt/slides/slide8.xml" Id="R0ad370c4dfd24a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fe8b89c20d47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8220dd02d8483f" /><Relationship Type="http://schemas.openxmlformats.org/officeDocument/2006/relationships/notesMaster" Target="/ppt/notesMasters/notesMaster1.xml" Id="R1693388474fe43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dbbde3ab834193" /><Relationship Type="http://schemas.openxmlformats.org/officeDocument/2006/relationships/notesMaster" Target="/ppt/notesMasters/notesMaster1.xml" Id="Rd3d25d1f9fd647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c3ff7e8d074900" /><Relationship Type="http://schemas.openxmlformats.org/officeDocument/2006/relationships/notesMaster" Target="/ppt/notesMasters/notesMaster1.xml" Id="R4bff31ee813648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0fc52d430c4cd6" /><Relationship Type="http://schemas.openxmlformats.org/officeDocument/2006/relationships/notesMaster" Target="/ppt/notesMasters/notesMaster1.xml" Id="Re841c9335d7047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1495a4e7ef4476" /><Relationship Type="http://schemas.openxmlformats.org/officeDocument/2006/relationships/notesMaster" Target="/ppt/notesMasters/notesMaster1.xml" Id="R5cfeccda2a014d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bc067676654c37" /><Relationship Type="http://schemas.openxmlformats.org/officeDocument/2006/relationships/notesMaster" Target="/ppt/notesMasters/notesMaster1.xml" Id="R71f8b824e8ee48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6d92774cd3414f" /><Relationship Type="http://schemas.openxmlformats.org/officeDocument/2006/relationships/notesMaster" Target="/ppt/notesMasters/notesMaster1.xml" Id="R5c732ec815ff4c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750760038f4c6a" /><Relationship Type="http://schemas.openxmlformats.org/officeDocument/2006/relationships/notesMaster" Target="/ppt/notesMasters/notesMaster1.xml" Id="R47ca0b073ed744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Noam · 0:20. Open with the user and result, not implementation. [Sources] Course presentation rubric; project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Noam · 0:50. Explain the user, the monitoring burden, the exact crossing rule, and why avoiding repeated alerts matters. [Sources] NOAA SWPC scales and project proposal. Data explainer: Kp is a 0-to-9 index that summarizes how disturbed Earth's magnetic field is on a global scale. A higher value means stronger geomagnetic activity, which can interfere with high-frequency radio propagation. It is not a direct measurement of one radio station, and our project does not forecast future Kp.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Noam · 0:55. Trace the raw estimated_kp field into kp_value. Explain why the synthetic source string is explicit. [Sources] NOAA SWPC planetary K-index endpoint; DATA_SOURCE.md; representative_event.json. Data explainer: The real source is NOAA's Space Weather Prediction Center. Its public JSON endpoint provides preliminary estimated planetary Kp values and timestamps, updated roughly every minute. NOAA derives Kp from magnetic-field observations; the one-minute feed is a frequently updated estimate, not a new independent global measurement every minute. We use time_tag to identify when the estimate applies and estimated_kp as the value used by our rolling-window rule. The producer converts those raw fields into our four-field Kafka event by renaming estimated_kp to kp_value and adding source and ingested_at.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Noam · 1:05, then hand off to Niki. Follow the 6.3 event through each box. Explain the one-topic/one-partition choice. [Sources] Implemented repository architecture; README. Data explainer: Kafka does not change the Kp value or decide whether conditions are risky. It receives each validated observation as a separate message, stores the messages in order in kp_observations, and lets the consumer read them independently. Our Python consumer performs deduplication, calculates the rolling 15-minute maximum, checks for a crossing of Kp 6, and writes the output artifacts. More specifically, during the required demo, `src/replay_producer.py` is the producer: it reads and validates the nine JSONL observations and publishes each row as its own Kafka message; `src/live_poller.py` is the optional producer for current NOAA observations. The Kafka broker running in Docker buffers those messages in the `kp_observations` topic, preserves their partition order, and makes them available to an independent reader; it does not transform the data. `src/stream_processor.py` is the consumer: it reads the Kafka messages and uses `src/processor.py` to deduplicate, calculate the rolling maximum, and decide when an alert should be emitted. Example talk track: The Kp 6.3 event from slide 3 is validated and published to Kafka. The consumer reads it, updates the rolling 15-minute maximum to 6.3, recognizes that this is the first crossing of Kp 6, and writes alert number one. Tell the audience that they will see this same Kp 6.3 event and alert number one in the terminal and UI during the next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Niki · 2:00 maximum. Do not narrate setup. Terminal: run ./run_demo.sh and call out Kafka, counts, artifacts, tests. UI: show the same generated artifacts and briefing; do not claim the UI makes the decision. If anything fails, jump to backup slide 8. [Sources] run_demo.sh and saved artifacts. Data explainer: The required demo uses nine project-created rows because current NOAA data may stay below Kp 6 and never demonstrate an alert. The rows are clearly labeled synthetic and use the exact same four-field contract as real NOAA events. Each JSONL row becomes one Kafka message. The optional live poller also sends genuine current NOAA observations to the same topic, but the replay is what reliably demonstrates crossing, duplicate suppression, window expiration, rearming, and a second alert. Demo transition: Switch to the local terminal, run `./run_demo.sh`, and then show the UI. Two-alert explainer: The two alerts represent two separate threshold-crossing episodes, not simply two values above 6. At 00:10, Kp 6.3 raises the rolling 15-minute maximum above the threshold and creates alert #1. The repeated 6.3 row is skipped as a duplicate, and later rows do not create alert spam while the rolling window remains elevated. At 00:26, the earlier 6.3 leaves the window, the rolling maximum falls to 5.5, and the monitor returns to normal and rearms. At 00:27, Kp 7.0 creates a new crossing and alert #2. The later Kp 6.7 does not create a third alert because the monitor is already elevated. Say: “The first episode creates one alert, repeated elevated readings are suppressed, the monitor rearms after conditions return to normal, and the second episode creates the second alert.”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Niki · 1:10. Connect the demo result to the test evidence. Be clear that AI is optional wording only and that fallback is the required reliable path. [Sources] pytest results; evaluation/evaluation.json; AI_USAGE.md. Demo-result clarification: “The number of alerts depends on the data. This labeled replay contains two separate threshold-crossing episodes, so the expected result is exactly two alerts.” AI boundary talk track: “These five verified fields from the completed alert are the AI input: latest Kp, rolling maximum, window start, window end, and risk label. This two-sentence briefing is the output. The alert itself was already created before AI was called.” Test explainer: The 167 standard tests check the event contract and invalid inputs, replay producer, live NOAA poller, duplicate handling, rolling 15-minute calculation, threshold crossing and rearming, output files, bounded AI briefing and fallback, evaluation logic, environment, and UI artifact reader. They run quickly without requiring a live Kafka broker. The three Docker-backed integration tests then use the real local Kafka broker: one verifies that a representative event makes a complete producer-to-Kafka-to-consumer round trip with the correct topic, key, partition, and value; one confirms that all nine replay events arrive in their exact order, including the deliberate duplicate; and one runs the replay through the real Kafka consumer and verifies that it writes the expected two alerts and nine metrics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Niki · 0:40. State one evidence-based lesson, one honest limitation, and one scoped next step. End on reproducibility, then invite questions. Total target: 7:00. [Sources] DATA_SOURCE.md; implemented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 This is not part of the seven-minute sequence unless the terminal/UI fails. [Sources] Saved verified run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602821a6e44d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1ad12838664362" /><Relationship Type="http://schemas.openxmlformats.org/officeDocument/2006/relationships/slideLayout" Target="/ppt/slideLayouts/slideLayout1.xml" Id="R7469dcb68a5c4e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69dcb68a5c4e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28a8b3a7c34023" /><Relationship Type="http://schemas.openxmlformats.org/officeDocument/2006/relationships/image" Target="/ppt/media/image.png" Id="R8ae988a104d7414d" /><Relationship Type="http://schemas.openxmlformats.org/officeDocument/2006/relationships/notesSlide" Target="/ppt/notesSlides/notesSlide1.xml" Id="R222fab05b95240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cbc01fa9d34ec3" /><Relationship Type="http://schemas.openxmlformats.org/officeDocument/2006/relationships/image" Target="/ppt/media/image2.png" Id="R72e580c689244b8f" /><Relationship Type="http://schemas.openxmlformats.org/officeDocument/2006/relationships/notesSlide" Target="/ppt/notesSlides/notesSlide2.xml" Id="Rd982a3f53fef4a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2026865a774d10" /><Relationship Type="http://schemas.openxmlformats.org/officeDocument/2006/relationships/image" Target="/ppt/media/image3.png" Id="Rbe25cd1496794e1b" /><Relationship Type="http://schemas.openxmlformats.org/officeDocument/2006/relationships/notesSlide" Target="/ppt/notesSlides/notesSlide3.xml" Id="R15550a727f064f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4125fae058493c" /><Relationship Type="http://schemas.openxmlformats.org/officeDocument/2006/relationships/image" Target="/ppt/media/image4.png" Id="R68820754421e4031" /><Relationship Type="http://schemas.openxmlformats.org/officeDocument/2006/relationships/notesSlide" Target="/ppt/notesSlides/notesSlide4.xml" Id="R0ab58c4556284e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755b54071d4493" /><Relationship Type="http://schemas.openxmlformats.org/officeDocument/2006/relationships/image" Target="/ppt/media/image5.png" Id="Rd81663b523724501" /><Relationship Type="http://schemas.openxmlformats.org/officeDocument/2006/relationships/notesSlide" Target="/ppt/notesSlides/notesSlide5.xml" Id="R8b05625c324647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9817c51ab94bab" /><Relationship Type="http://schemas.openxmlformats.org/officeDocument/2006/relationships/image" Target="/ppt/media/image6.png" Id="R9c8a3aa9a4864ae6" /><Relationship Type="http://schemas.openxmlformats.org/officeDocument/2006/relationships/notesSlide" Target="/ppt/notesSlides/notesSlide6.xml" Id="R3e700e462dbb44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506b6aa112423d" /><Relationship Type="http://schemas.openxmlformats.org/officeDocument/2006/relationships/image" Target="/ppt/media/image7.png" Id="R40df1a3139a94b66" /><Relationship Type="http://schemas.openxmlformats.org/officeDocument/2006/relationships/notesSlide" Target="/ppt/notesSlides/notesSlide7.xml" Id="Re81fbd316c1b4f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ff0117abb541f0" /><Relationship Type="http://schemas.openxmlformats.org/officeDocument/2006/relationships/image" Target="/ppt/media/image8.png" Id="R357e1069c9e243e2" /><Relationship Type="http://schemas.openxmlformats.org/officeDocument/2006/relationships/notesSlide" Target="/ppt/notesSlides/notesSlide8.xml" Id="R053e9afd42d04ca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ae988a104d7414d"/>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118848165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2e580c689244b8f"/>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24718703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e25cd1496794e1b"/>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17398016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8820754421e4031"/>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76794944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81663b523724501"/>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20778919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c8a3aa9a4864ae6"/>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130752389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0df1a3139a94b66"/>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61951901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57e1069c9e243e2"/>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Tree>
    <p:extLst>
      <p:ext uri="{BB962C8B-B14F-4D97-AF65-F5344CB8AC3E}">
        <p14:creationId xmlns:p14="http://schemas.microsoft.com/office/powerpoint/2010/main" val="18855854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2026-08-13T13:03:31.0320000Z</dcterms:created>
  <dcterms:modified xsi:type="dcterms:W3CDTF">2026-08-13T13:03:31.0320000Z</dcterms:modified>
</coreProperties>
</file>