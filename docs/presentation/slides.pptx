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5b1d7026ba4594" /><Relationship Type="http://schemas.openxmlformats.org/officeDocument/2006/relationships/extended-properties" Target="/docProps/app.xml" Id="Rd52035307c9f41f8" /><Relationship Type="http://schemas.openxmlformats.org/officeDocument/2006/relationships/officeDocument" Target="/ppt/presentation.xml" Id="R7cfcd136a0254085" /></Relationships>
</file>

<file path=ppt/presentation.xml><?xml version="1.0" encoding="utf-8"?>
<p:presentation xmlns:p="http://schemas.openxmlformats.org/presentationml/2006/main">
  <p:sldMasterIdLst>
    <p:sldMasterId xmlns:r="http://schemas.openxmlformats.org/officeDocument/2006/relationships" id="2147483648" r:id="Rc87b1890d60c419c"/>
  </p:sldMasterIdLst>
  <p:notesMasterIdLst>
    <p:notesMasterId xmlns:r="http://schemas.openxmlformats.org/officeDocument/2006/relationships" r:id="Rded0b0e0d7084e07"/>
  </p:notesMasterIdLst>
  <p:sldIdLst>
    <p:sldId xmlns:r="http://schemas.openxmlformats.org/officeDocument/2006/relationships" id="256" r:id="R62acf150051a4793"/>
    <p:sldId xmlns:r="http://schemas.openxmlformats.org/officeDocument/2006/relationships" id="257" r:id="R4b03815dec5e43ca"/>
    <p:sldId xmlns:r="http://schemas.openxmlformats.org/officeDocument/2006/relationships" id="258" r:id="R7ae263cd68474b2d"/>
    <p:sldId xmlns:r="http://schemas.openxmlformats.org/officeDocument/2006/relationships" id="259" r:id="R00972366b92046a7"/>
    <p:sldId xmlns:r="http://schemas.openxmlformats.org/officeDocument/2006/relationships" id="260" r:id="Rc0d9de813b57480b"/>
    <p:sldId xmlns:r="http://schemas.openxmlformats.org/officeDocument/2006/relationships" id="261" r:id="R7526074536dc4642"/>
    <p:sldId xmlns:r="http://schemas.openxmlformats.org/officeDocument/2006/relationships" id="262" r:id="R9b6b8901458049e8"/>
    <p:sldId xmlns:r="http://schemas.openxmlformats.org/officeDocument/2006/relationships" id="263" r:id="R398d15714509488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56a257a11024ee3" /><Relationship Type="http://schemas.openxmlformats.org/officeDocument/2006/relationships/slideMaster" Target="/ppt/slideMasters/slideMaster1.xml" Id="Rc87b1890d60c419c" /><Relationship Type="http://schemas.openxmlformats.org/officeDocument/2006/relationships/notesMaster" Target="/ppt/notesMasters/notesMaster1.xml" Id="Rded0b0e0d7084e07" /><Relationship Type="http://schemas.openxmlformats.org/officeDocument/2006/relationships/presProps" Target="/ppt/presProps.xml" Id="R8bf996bc18194211" /><Relationship Type="http://schemas.openxmlformats.org/officeDocument/2006/relationships/tableStyles" Target="/ppt/tableStyles.xml" Id="R5fc818a9533940b2" /><Relationship Type="http://schemas.openxmlformats.org/officeDocument/2006/relationships/slide" Target="/ppt/slides/slide1.xml" Id="R62acf150051a4793" /><Relationship Type="http://schemas.openxmlformats.org/officeDocument/2006/relationships/slide" Target="/ppt/slides/slide2.xml" Id="R4b03815dec5e43ca" /><Relationship Type="http://schemas.openxmlformats.org/officeDocument/2006/relationships/slide" Target="/ppt/slides/slide3.xml" Id="R7ae263cd68474b2d" /><Relationship Type="http://schemas.openxmlformats.org/officeDocument/2006/relationships/slide" Target="/ppt/slides/slide4.xml" Id="R00972366b92046a7" /><Relationship Type="http://schemas.openxmlformats.org/officeDocument/2006/relationships/slide" Target="/ppt/slides/slide5.xml" Id="Rc0d9de813b57480b" /><Relationship Type="http://schemas.openxmlformats.org/officeDocument/2006/relationships/slide" Target="/ppt/slides/slide6.xml" Id="R7526074536dc4642" /><Relationship Type="http://schemas.openxmlformats.org/officeDocument/2006/relationships/slide" Target="/ppt/slides/slide7.xml" Id="R9b6b8901458049e8" /><Relationship Type="http://schemas.openxmlformats.org/officeDocument/2006/relationships/slide" Target="/ppt/slides/slide8.xml" Id="R398d15714509488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0141ef5f8341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d7cafc77104bec" /><Relationship Type="http://schemas.openxmlformats.org/officeDocument/2006/relationships/notesMaster" Target="/ppt/notesMasters/notesMaster1.xml" Id="R33b36e8a2a9a42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8f01e20818244ce" /><Relationship Type="http://schemas.openxmlformats.org/officeDocument/2006/relationships/notesMaster" Target="/ppt/notesMasters/notesMaster1.xml" Id="R90048a1ea56540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ecd9eae92d4a31" /><Relationship Type="http://schemas.openxmlformats.org/officeDocument/2006/relationships/notesMaster" Target="/ppt/notesMasters/notesMaster1.xml" Id="Reeadd1c0107b47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438f74df414290" /><Relationship Type="http://schemas.openxmlformats.org/officeDocument/2006/relationships/notesMaster" Target="/ppt/notesMasters/notesMaster1.xml" Id="Raff1cd03cbee4de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9f157041094f3f" /><Relationship Type="http://schemas.openxmlformats.org/officeDocument/2006/relationships/notesMaster" Target="/ppt/notesMasters/notesMaster1.xml" Id="Rd2ff7b353a0647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e0738561384d2f" /><Relationship Type="http://schemas.openxmlformats.org/officeDocument/2006/relationships/notesMaster" Target="/ppt/notesMasters/notesMaster1.xml" Id="R97ad52bffa7144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d181a6716a4960" /><Relationship Type="http://schemas.openxmlformats.org/officeDocument/2006/relationships/notesMaster" Target="/ppt/notesMasters/notesMaster1.xml" Id="Rccd1cc2c0f3e4e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646439fa6a44f7" /><Relationship Type="http://schemas.openxmlformats.org/officeDocument/2006/relationships/notesMaster" Target="/ppt/notesMasters/notesMaster1.xml" Id="Ra7ea26ce644047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Noam · 0:20. Open with the user and result, not implementation. [Sources] Course presentation rubric; project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Noam · 0:50. Explain the user, the monitoring burden, the exact crossing rule, and why avoiding repeated alerts matters. [Sources] NOAA SWPC scales and project proposal. Data explainer: Kp is a 0-to-9 index that summarizes how disturbed Earth's magnetic field is on a global scale. A higher value means stronger geomagnetic activity, which can interfere with high-frequency radio propagation. It is not a direct measurement of one radio station, and our project does not forecast future Kp.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Noam · 0:55. Trace the raw estimated_kp field into kp_value. Explain why the synthetic source string is explicit. [Sources] NOAA SWPC planetary K-index endpoint; DATA_SOURCE.md; representative_event.json. Data explainer: The real source is NOAA's Space Weather Prediction Center. Its public JSON endpoint provides preliminary estimated planetary Kp values and timestamps, updated roughly every minute. NOAA derives Kp from magnetic-field observations; the one-minute feed is a frequently updated estimate, not a new independent global measurement every minute. We use time_tag to identify when the estimate applies and estimated_kp as the value used by our rolling-window rule. The producer converts those raw fields into our four-field Kafka event by renaming estimated_kp to kp_value and adding source and ingested_at.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Noam · 1:05, then hand off to Niki. Follow the 6.3 event through each box. Explain the one-topic/one-partition choice. [Sources] Implemented repository architecture; README. Data explainer: Kafka does not change the Kp value or decide whether conditions are risky. It receives each validated observation as a separate message, stores the messages in order in kp_observations, and lets the consumer read them independently. Our Python consumer performs deduplication, calculates the rolling 15-minute maximum, checks for a crossing of Kp 6, and writes the output artifacts. More specifically, during the required demo, `src/replay_producer.py` is the producer: it reads and validates the nine JSONL observations and publishes each row as its own Kafka message; `src/live_poller.py` is the optional producer for current NOAA observations. The Kafka broker running in Docker buffers those messages in the `kp_observations` topic, preserves their partition order, and makes them available to an independent reader; it does not transform the data. `src/stream_processor.py` is the consumer: it reads the Kafka messages and uses `src/processor.py` to deduplicate, calculate the rolling maximum, and decide when an alert should be emitted. Example talk track: The Kp 6.3 event from slide 3 is validated and published to Kafka. The consumer reads it, updates the rolling 15-minute maximum to 6.3, recognizes that this is the first crossing of Kp 6, and writes alert number one. Tell the audience that they will see this same Kp 6.3 event and alert number one in the terminal and UI during the next live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Niki · 2:00 maximum. Do not narrate setup. Terminal: run ./run_demo.sh and call out Kafka, counts, artifacts, tests. UI: show the same generated artifacts and briefing; do not claim the UI makes the decision. If anything fails, jump to backup slide 8. [Sources] run_demo.sh and saved artifacts. Data explainer: The required demo uses nine project-created rows because current NOAA data may stay below Kp 6 and never demonstrate an alert. The rows are clearly labeled synthetic and use the exact same four-field contract as real NOAA events. Each JSONL row becomes one Kafka message. The optional live poller also sends genuine current NOAA observations to the same topic, but the replay is what reliably demonstrates crossing, duplicate suppression, window expiration, rearming, and a second alert. Demo transition: Switch to the local terminal, run `./run_demo.sh`, and then show the UI. Two-alert explainer: The two alerts represent two separate threshold-crossing episodes, not simply two values above 6. At 00:10, Kp 6.3 raises the rolling 15-minute maximum above the threshold and creates alert #1. The repeated 6.3 row is skipped as a duplicate, and later rows do not create alert spam while the rolling window remains elevated. At 00:26, the earlier 6.3 leaves the window, the rolling maximum falls to 5.5, and the monitor returns to normal and rearms. At 00:27, Kp 7.0 creates a new crossing and alert #2. The later Kp 6.7 does not create a third alert because the monitor is already elevated. Say: “The first episode creates one alert, repeated elevated readings are suppressed, the monitor rearms after conditions return to normal, and the second episode creates the second alert.”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Niki · 1:10. Connect the demo result to the test evidence. Be clear that AI is optional wording only and that fallback is the required reliable path. [Sources] pytest results; evaluation/evaluation.json; AI_USAGE.md. Demo-result clarification: “The number of alerts depends on the data. This labeled replay contains two separate threshold-crossing episodes, so the expected result is exactly two alerts.” AI boundary talk track: “These five verified fields from the completed alert are the AI input: latest Kp, rolling maximum, window start, window end, and risk label. This two-sentence briefing is the output. The alert itself was already created before AI was called.” Test explainer: The 167 standard tests check the event contract and invalid inputs, replay producer, live NOAA poller, duplicate handling, rolling 15-minute calculation, threshold crossing and rearming, output files, bounded AI briefing and fallback, evaluation logic, environment, and UI artifact reader. They run quickly without requiring a live Kafka broker. The three Docker-backed integration tests then use the real local Kafka broker: one verifies that a representative event makes a complete producer-to-Kafka-to-consumer round trip with the correct topic, key, partition, and value; one confirms that all nine replay events arrive in their exact order, including the deliberate duplicate; and one runs the replay through the real Kafka consumer and verifies that it writes the expected two alerts and nine metrics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Niki · 0:40. State one evidence-based lesson, one honest limitation, and one scoped next step. End on reproducibility, then invite questions. Total target: 7:00. [Sources] DATA_SOURCE.md; implemented project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 This is not part of the seven-minute sequence unless the terminal/UI fails. [Sources] Saved verified run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20e590516840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3a756c834d493b" /><Relationship Type="http://schemas.openxmlformats.org/officeDocument/2006/relationships/slideLayout" Target="/ppt/slideLayouts/slideLayout1.xml" Id="R0e7559b82b784a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7559b82b784a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20da97991974c52" /><Relationship Type="http://schemas.openxmlformats.org/officeDocument/2006/relationships/notesSlide" Target="/ppt/notesSlides/notesSlide1.xml" Id="R02644979aab947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f68323fe2242ed" /><Relationship Type="http://schemas.openxmlformats.org/officeDocument/2006/relationships/notesSlide" Target="/ppt/notesSlides/notesSlide2.xml" Id="Rda13cb9e6f024e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9fdaedb535649d8" /><Relationship Type="http://schemas.openxmlformats.org/officeDocument/2006/relationships/notesSlide" Target="/ppt/notesSlides/notesSlide3.xml" Id="Rfe5ab658807146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cb66471dcd44946" /><Relationship Type="http://schemas.openxmlformats.org/officeDocument/2006/relationships/notesSlide" Target="/ppt/notesSlides/notesSlide4.xml" Id="Reb090c060ad146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44876b3c454f19" /><Relationship Type="http://schemas.openxmlformats.org/officeDocument/2006/relationships/notesSlide" Target="/ppt/notesSlides/notesSlide5.xml" Id="Rab69204d97424d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2679f96083f4b37" /><Relationship Type="http://schemas.openxmlformats.org/officeDocument/2006/relationships/notesSlide" Target="/ppt/notesSlides/notesSlide6.xml" Id="Rf44a06f26a4049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3fbc7916d34b30" /><Relationship Type="http://schemas.openxmlformats.org/officeDocument/2006/relationships/notesSlide" Target="/ppt/notesSlides/notesSlide7.xml" Id="R2b0490be4f6f4d5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baa68dbab442aa" /><Relationship Type="http://schemas.openxmlformats.org/officeDocument/2006/relationships/notesSlide" Target="/ppt/notesSlides/notesSlide8.xml" Id="R1a10f8a36d5c4cff"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8" name="s1-eyebrow">
            <a:extLst xmlns:a="http://schemas.openxmlformats.org/drawingml/2006/main">
              <a:ext uri="{FF2B5EF4-FFF2-40B4-BE49-F238E27FC236}">
                <a16:creationId xmlns:a16="http://schemas.microsoft.com/office/drawing/2014/main" id="{2949C022-47EB-48A0-B637-DDB6A9996BC4}"/>
              </a:ext>
            </a:extLst>
          </p:cNvPr>
          <p:cNvSpPr>
            <a:spLocks xmlns:a="http://schemas.openxmlformats.org/drawingml/2006/main" noGrp="1"/>
          </p:cNvSpPr>
          <p:nvPr/>
        </p:nvSpPr>
        <p:spPr>
          <a:xfrm xmlns:a="http://schemas.openxmlformats.org/drawingml/2006/main">
            <a:off x="933450" y="1762125"/>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8FC4FF"/>
                </a:solidFill>
                <a:latin typeface="Arial"/>
                <a:ea typeface="Arial"/>
                <a:cs typeface="Arial"/>
              </a:defRPr>
            </a:pPr>
            <a:r>
              <a:rPr sz="1350" b="1">
                <a:solidFill>
                  <a:srgbClr val="8FC4FF"/>
                </a:solidFill>
                <a:latin typeface="Arial"/>
                <a:ea typeface="Arial"/>
                <a:cs typeface="Arial"/>
              </a:rPr>
              <a:t>MSDS 682 · DATA STREAM PROCESSING</a:t>
            </a:r>
          </a:p>
        </p:txBody>
      </p:sp>
      <p:sp>
        <p:nvSpPr>
          <p:cNvPr id="2" name="s1-title">
            <a:extLst xmlns:a="http://schemas.openxmlformats.org/drawingml/2006/main">
              <a:ext uri="{FF2B5EF4-FFF2-40B4-BE49-F238E27FC236}">
                <a16:creationId xmlns:a16="http://schemas.microsoft.com/office/drawing/2014/main" id="{B3D6B7A7-2705-48CF-99B1-C68BD68D5153}"/>
              </a:ext>
            </a:extLst>
          </p:cNvPr>
          <p:cNvSpPr>
            <a:spLocks xmlns:a="http://schemas.openxmlformats.org/drawingml/2006/main" noGrp="1"/>
          </p:cNvSpPr>
          <p:nvPr/>
        </p:nvSpPr>
        <p:spPr>
          <a:xfrm xmlns:a="http://schemas.openxmlformats.org/drawingml/2006/main">
            <a:off x="933450" y="2238375"/>
            <a:ext cx="113347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5475" b="1">
                <a:solidFill>
                  <a:srgbClr val="FFFFFF"/>
                </a:solidFill>
                <a:latin typeface="Arial"/>
                <a:ea typeface="Arial"/>
                <a:cs typeface="Arial"/>
              </a:defRPr>
            </a:pPr>
            <a:r>
              <a:rPr sz="5475" b="1">
                <a:solidFill>
                  <a:srgbClr val="FFFFFF"/>
                </a:solidFill>
                <a:latin typeface="Arial"/>
                <a:ea typeface="Arial"/>
                <a:cs typeface="Arial"/>
              </a:rPr>
              <a:t>Space Weather</a:t>
            </a:r>
          </a:p>
          <a:p xmlns:a="http://schemas.openxmlformats.org/drawingml/2006/main">
            <a:pPr algn="l">
              <a:lnSpc>
                <a:spcPct val="90000"/>
              </a:lnSpc>
              <a:buNone/>
              <a:defRPr sz="5475" b="1">
                <a:solidFill>
                  <a:srgbClr val="FFFFFF"/>
                </a:solidFill>
                <a:latin typeface="Arial"/>
                <a:ea typeface="Arial"/>
                <a:cs typeface="Arial"/>
              </a:defRPr>
            </a:pPr>
            <a:r>
              <a:rPr sz="5475" b="1">
                <a:solidFill>
                  <a:srgbClr val="FFFFFF"/>
                </a:solidFill>
                <a:latin typeface="Arial"/>
                <a:ea typeface="Arial"/>
                <a:cs typeface="Arial"/>
              </a:rPr>
              <a:t>Radio-Risk Monitor</a:t>
            </a:r>
          </a:p>
        </p:txBody>
      </p:sp>
      <p:sp>
        <p:nvSpPr>
          <p:cNvPr id="3" name="s1-accent">
            <a:extLst xmlns:a="http://schemas.openxmlformats.org/drawingml/2006/main">
              <a:ext uri="{FF2B5EF4-FFF2-40B4-BE49-F238E27FC236}">
                <a16:creationId xmlns:a16="http://schemas.microsoft.com/office/drawing/2014/main" id="{2856B6AA-6C21-4575-B587-B18A7538BE28}"/>
              </a:ext>
            </a:extLst>
          </p:cNvPr>
          <p:cNvSpPr>
            <a:spLocks xmlns:a="http://schemas.openxmlformats.org/drawingml/2006/main" noGrp="1"/>
          </p:cNvSpPr>
          <p:nvPr/>
        </p:nvSpPr>
        <p:spPr>
          <a:xfrm xmlns:a="http://schemas.openxmlformats.org/drawingml/2006/main">
            <a:off x="933450" y="4048125"/>
            <a:ext cx="1381125" cy="66675"/>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4" name="s1-subtitle">
            <a:extLst xmlns:a="http://schemas.openxmlformats.org/drawingml/2006/main">
              <a:ext uri="{FF2B5EF4-FFF2-40B4-BE49-F238E27FC236}">
                <a16:creationId xmlns:a16="http://schemas.microsoft.com/office/drawing/2014/main" id="{9D36095C-0A9B-4495-BB90-5F13D0860655}"/>
              </a:ext>
            </a:extLst>
          </p:cNvPr>
          <p:cNvSpPr>
            <a:spLocks xmlns:a="http://schemas.openxmlformats.org/drawingml/2006/main" noGrp="1"/>
          </p:cNvSpPr>
          <p:nvPr/>
        </p:nvSpPr>
        <p:spPr>
          <a:xfrm xmlns:a="http://schemas.openxmlformats.org/drawingml/2006/main">
            <a:off x="933450" y="4381500"/>
            <a:ext cx="9906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2100" b="0">
                <a:solidFill>
                  <a:srgbClr val="D9E6F1"/>
                </a:solidFill>
                <a:latin typeface="Arial"/>
                <a:ea typeface="Arial"/>
                <a:cs typeface="Arial"/>
              </a:defRPr>
            </a:pPr>
            <a:r>
              <a:rPr sz="2100" b="0">
                <a:solidFill>
                  <a:srgbClr val="D9E6F1"/>
                </a:solidFill>
                <a:latin typeface="Arial"/>
                <a:ea typeface="Arial"/>
                <a:cs typeface="Arial"/>
              </a:rPr>
              <a:t>A reproducible Kafka alert when planetary Kp crosses an elevated-risk threshold.</a:t>
            </a:r>
          </a:p>
        </p:txBody>
      </p:sp>
      <p:sp>
        <p:nvSpPr>
          <p:cNvPr id="5" name="s1-team">
            <a:extLst xmlns:a="http://schemas.openxmlformats.org/drawingml/2006/main">
              <a:ext uri="{FF2B5EF4-FFF2-40B4-BE49-F238E27FC236}">
                <a16:creationId xmlns:a16="http://schemas.microsoft.com/office/drawing/2014/main" id="{804C07B7-3EB8-467E-A31A-EA20691F7471}"/>
              </a:ext>
            </a:extLst>
          </p:cNvPr>
          <p:cNvSpPr>
            <a:spLocks xmlns:a="http://schemas.openxmlformats.org/drawingml/2006/main" noGrp="1"/>
          </p:cNvSpPr>
          <p:nvPr/>
        </p:nvSpPr>
        <p:spPr>
          <a:xfrm xmlns:a="http://schemas.openxmlformats.org/drawingml/2006/main">
            <a:off x="933450" y="5667375"/>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725" b="0">
                <a:solidFill>
                  <a:srgbClr val="FFFFFF"/>
                </a:solidFill>
                <a:latin typeface="Arial"/>
                <a:ea typeface="Arial"/>
                <a:cs typeface="Arial"/>
              </a:defRPr>
            </a:pPr>
            <a:r>
              <a:rPr sz="1725" b="0">
                <a:solidFill>
                  <a:srgbClr val="FFFFFF"/>
                </a:solidFill>
                <a:latin typeface="Arial"/>
                <a:ea typeface="Arial"/>
                <a:cs typeface="Arial"/>
              </a:rPr>
              <a:t>Noam Fein · Niki Naderzad</a:t>
            </a:r>
          </a:p>
        </p:txBody>
      </p:sp>
      <p:sp>
        <p:nvSpPr>
          <p:cNvPr id="6" name="footer-1-label">
            <a:extLst xmlns:a="http://schemas.openxmlformats.org/drawingml/2006/main">
              <a:ext uri="{FF2B5EF4-FFF2-40B4-BE49-F238E27FC236}">
                <a16:creationId xmlns:a16="http://schemas.microsoft.com/office/drawing/2014/main" id="{252D79DF-CA1C-4AE8-8EB0-E60BE014A0E4}"/>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9DB2C5"/>
                </a:solidFill>
                <a:latin typeface="Arial"/>
                <a:ea typeface="Arial"/>
                <a:cs typeface="Arial"/>
              </a:defRPr>
            </a:pPr>
            <a:r>
              <a:rPr sz="1125" b="0">
                <a:solidFill>
                  <a:srgbClr val="9DB2C5"/>
                </a:solidFill>
                <a:latin typeface="Arial"/>
                <a:ea typeface="Arial"/>
                <a:cs typeface="Arial"/>
              </a:rPr>
              <a:t>August 13, 2026</a:t>
            </a:r>
          </a:p>
        </p:txBody>
      </p:sp>
      <p:sp>
        <p:nvSpPr>
          <p:cNvPr id="7" name="footer-1-number">
            <a:extLst xmlns:a="http://schemas.openxmlformats.org/drawingml/2006/main">
              <a:ext uri="{FF2B5EF4-FFF2-40B4-BE49-F238E27FC236}">
                <a16:creationId xmlns:a16="http://schemas.microsoft.com/office/drawing/2014/main" id="{AD862AA5-7A70-449F-9A9C-066FB7D340CE}"/>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9DB2C5"/>
                </a:solidFill>
                <a:latin typeface="Arial"/>
                <a:ea typeface="Arial"/>
                <a:cs typeface="Arial"/>
              </a:defRPr>
            </a:pPr>
            <a:r>
              <a:rPr sz="1125" b="0">
                <a:solidFill>
                  <a:srgbClr val="9DB2C5"/>
                </a:solidFill>
                <a:latin typeface="Arial"/>
                <a:ea typeface="Arial"/>
                <a:cs typeface="Arial"/>
              </a:rPr>
              <a:t>1</a:t>
            </a:r>
          </a:p>
        </p:txBody>
      </p:sp>
    </p:spTree>
    <p:extLst>
      <p:ext uri="{BB962C8B-B14F-4D97-AF65-F5344CB8AC3E}">
        <p14:creationId xmlns:p14="http://schemas.microsoft.com/office/powerpoint/2010/main" val="631848793"/>
      </p:ext>
    </p:extLst>
  </p:cSld>
</p:sld>
</file>

<file path=ppt/slides/slide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0" name="eyebrow-Problem and useful">
            <a:extLst xmlns:a="http://schemas.openxmlformats.org/drawingml/2006/main">
              <a:ext uri="{FF2B5EF4-FFF2-40B4-BE49-F238E27FC236}">
                <a16:creationId xmlns:a16="http://schemas.microsoft.com/office/drawing/2014/main" id="{D418B939-4559-4888-9CA9-157AA96DEF10}"/>
              </a:ext>
            </a:extLst>
          </p:cNvPr>
          <p:cNvSpPr>
            <a:spLocks xmlns:a="http://schemas.openxmlformats.org/drawingml/2006/main" noGrp="1"/>
          </p:cNvSpPr>
          <p:nvPr/>
        </p:nvSpPr>
        <p:spPr>
          <a:xfrm xmlns:a="http://schemas.openxmlformats.org/drawingml/2006/main">
            <a:off x="933450" y="457200"/>
            <a:ext cx="904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2F6FED"/>
                </a:solidFill>
                <a:latin typeface="Arial"/>
                <a:ea typeface="Arial"/>
                <a:cs typeface="Arial"/>
              </a:defRPr>
            </a:pPr>
            <a:r>
              <a:rPr sz="1275" b="1">
                <a:solidFill>
                  <a:srgbClr val="2F6FED"/>
                </a:solidFill>
                <a:latin typeface="Arial"/>
                <a:ea typeface="Arial"/>
                <a:cs typeface="Arial"/>
              </a:rPr>
              <a:t>PROBLEM AND USEFUL RESULT</a:t>
            </a:r>
          </a:p>
        </p:txBody>
      </p:sp>
      <p:sp>
        <p:nvSpPr>
          <p:cNvPr id="2" name="title-A radio operator n">
            <a:extLst xmlns:a="http://schemas.openxmlformats.org/drawingml/2006/main">
              <a:ext uri="{FF2B5EF4-FFF2-40B4-BE49-F238E27FC236}">
                <a16:creationId xmlns:a16="http://schemas.microsoft.com/office/drawing/2014/main" id="{4C0BB0E3-C168-41BB-9E63-6B8D36070DBC}"/>
              </a:ext>
            </a:extLst>
          </p:cNvPr>
          <p:cNvSpPr>
            <a:spLocks xmlns:a="http://schemas.openxmlformats.org/drawingml/2006/main" noGrp="1"/>
          </p:cNvSpPr>
          <p:nvPr/>
        </p:nvSpPr>
        <p:spPr>
          <a:xfrm xmlns:a="http://schemas.openxmlformats.org/drawingml/2006/main">
            <a:off x="933450" y="838200"/>
            <a:ext cx="133731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3675" b="1">
                <a:solidFill>
                  <a:srgbClr val="102A43"/>
                </a:solidFill>
                <a:latin typeface="Arial"/>
                <a:ea typeface="Arial"/>
                <a:cs typeface="Arial"/>
              </a:defRPr>
            </a:pPr>
            <a:r>
              <a:rPr sz="3675" b="1">
                <a:solidFill>
                  <a:srgbClr val="102A43"/>
                </a:solidFill>
                <a:latin typeface="Arial"/>
                <a:ea typeface="Arial"/>
                <a:cs typeface="Arial"/>
              </a:rPr>
              <a:t>A radio operator needs a signal, not another feed to watch</a:t>
            </a:r>
          </a:p>
        </p:txBody>
      </p:sp>
      <p:sp>
        <p:nvSpPr>
          <p:cNvPr id="3" name="s2-metric">
            <a:extLst xmlns:a="http://schemas.openxmlformats.org/drawingml/2006/main">
              <a:ext uri="{FF2B5EF4-FFF2-40B4-BE49-F238E27FC236}">
                <a16:creationId xmlns:a16="http://schemas.microsoft.com/office/drawing/2014/main" id="{740A6C61-D1D8-44D8-854D-0265D4A840F7}"/>
              </a:ext>
            </a:extLst>
          </p:cNvPr>
          <p:cNvSpPr>
            <a:spLocks xmlns:a="http://schemas.openxmlformats.org/drawingml/2006/main" noGrp="1"/>
          </p:cNvSpPr>
          <p:nvPr/>
        </p:nvSpPr>
        <p:spPr>
          <a:xfrm xmlns:a="http://schemas.openxmlformats.org/drawingml/2006/main">
            <a:off x="933450" y="2952750"/>
            <a:ext cx="4953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45"/>
          </a:bodyPr>
          <a:lstStyle xmlns:a="http://schemas.openxmlformats.org/drawingml/2006/main"/>
          <a:p xmlns:a="http://schemas.openxmlformats.org/drawingml/2006/main">
            <a:pPr algn="l">
              <a:defRPr sz="6150" b="1">
                <a:solidFill>
                  <a:srgbClr val="102A43"/>
                </a:solidFill>
                <a:latin typeface="Arial"/>
                <a:ea typeface="Arial"/>
                <a:cs typeface="Arial"/>
              </a:defRPr>
            </a:pPr>
            <a:r>
              <a:rPr sz="6150" b="1">
                <a:solidFill>
                  <a:srgbClr val="102A43"/>
                </a:solidFill>
                <a:latin typeface="Arial"/>
                <a:ea typeface="Arial"/>
                <a:cs typeface="Arial"/>
              </a:rPr>
              <a:t>Kp ≥ 6</a:t>
            </a:r>
          </a:p>
        </p:txBody>
      </p:sp>
      <p:sp>
        <p:nvSpPr>
          <p:cNvPr id="4" name="s2-metric-label">
            <a:extLst xmlns:a="http://schemas.openxmlformats.org/drawingml/2006/main">
              <a:ext uri="{FF2B5EF4-FFF2-40B4-BE49-F238E27FC236}">
                <a16:creationId xmlns:a16="http://schemas.microsoft.com/office/drawing/2014/main" id="{3DE431CC-6F2D-48BE-8102-A6F85698FE10}"/>
              </a:ext>
            </a:extLst>
          </p:cNvPr>
          <p:cNvSpPr>
            <a:spLocks xmlns:a="http://schemas.openxmlformats.org/drawingml/2006/main" noGrp="1"/>
          </p:cNvSpPr>
          <p:nvPr/>
        </p:nvSpPr>
        <p:spPr>
          <a:xfrm xmlns:a="http://schemas.openxmlformats.org/drawingml/2006/main">
            <a:off x="933450" y="4000500"/>
            <a:ext cx="4857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800" b="0">
                <a:solidFill>
                  <a:srgbClr val="617080"/>
                </a:solidFill>
                <a:latin typeface="Arial"/>
                <a:ea typeface="Arial"/>
                <a:cs typeface="Arial"/>
              </a:defRPr>
            </a:pPr>
            <a:r>
              <a:rPr sz="1800" b="0">
                <a:solidFill>
                  <a:srgbClr val="617080"/>
                </a:solidFill>
                <a:latin typeface="Arial"/>
                <a:ea typeface="Arial"/>
                <a:cs typeface="Arial"/>
              </a:rPr>
              <a:t>Our course-scale threshold for elevated radio-risk conditions.</a:t>
            </a:r>
          </a:p>
        </p:txBody>
      </p:sp>
      <p:sp>
        <p:nvSpPr>
          <p:cNvPr id="5" name="s2-rule-accent">
            <a:extLst xmlns:a="http://schemas.openxmlformats.org/drawingml/2006/main">
              <a:ext uri="{FF2B5EF4-FFF2-40B4-BE49-F238E27FC236}">
                <a16:creationId xmlns:a16="http://schemas.microsoft.com/office/drawing/2014/main" id="{C66C1127-541E-48E2-BB4E-A18D24DB9AE8}"/>
              </a:ext>
            </a:extLst>
          </p:cNvPr>
          <p:cNvSpPr>
            <a:spLocks xmlns:a="http://schemas.openxmlformats.org/drawingml/2006/main" noGrp="1"/>
          </p:cNvSpPr>
          <p:nvPr/>
        </p:nvSpPr>
        <p:spPr>
          <a:xfrm xmlns:a="http://schemas.openxmlformats.org/drawingml/2006/main">
            <a:off x="7667625" y="2819400"/>
            <a:ext cx="95250" cy="16764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6" name="s2-rule">
            <a:extLst xmlns:a="http://schemas.openxmlformats.org/drawingml/2006/main">
              <a:ext uri="{FF2B5EF4-FFF2-40B4-BE49-F238E27FC236}">
                <a16:creationId xmlns:a16="http://schemas.microsoft.com/office/drawing/2014/main" id="{493587DF-D496-4C62-AFFA-9CA24C562784}"/>
              </a:ext>
            </a:extLst>
          </p:cNvPr>
          <p:cNvSpPr>
            <a:spLocks xmlns:a="http://schemas.openxmlformats.org/drawingml/2006/main" noGrp="1"/>
          </p:cNvSpPr>
          <p:nvPr/>
        </p:nvSpPr>
        <p:spPr>
          <a:xfrm xmlns:a="http://schemas.openxmlformats.org/drawingml/2006/main">
            <a:off x="8096250" y="2924175"/>
            <a:ext cx="55245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2475" b="1">
                <a:solidFill>
                  <a:srgbClr val="102A43"/>
                </a:solidFill>
                <a:latin typeface="Arial"/>
                <a:ea typeface="Arial"/>
                <a:cs typeface="Arial"/>
              </a:defRPr>
            </a:pPr>
            <a:r>
              <a:rPr sz="2475" b="1">
                <a:solidFill>
                  <a:srgbClr val="102A43"/>
                </a:solidFill>
                <a:latin typeface="Arial"/>
                <a:ea typeface="Arial"/>
                <a:cs typeface="Arial"/>
              </a:rPr>
              <a:t>Emit one alert when the rolling 15-minute maximum first reaches or exceeds 6.</a:t>
            </a:r>
          </a:p>
        </p:txBody>
      </p:sp>
      <p:sp>
        <p:nvSpPr>
          <p:cNvPr id="7" name="s2-bullets">
            <a:extLst xmlns:a="http://schemas.openxmlformats.org/drawingml/2006/main">
              <a:ext uri="{FF2B5EF4-FFF2-40B4-BE49-F238E27FC236}">
                <a16:creationId xmlns:a16="http://schemas.microsoft.com/office/drawing/2014/main" id="{6572F05E-D109-4254-BBA1-C013C7602F67}"/>
              </a:ext>
            </a:extLst>
          </p:cNvPr>
          <p:cNvSpPr>
            <a:spLocks xmlns:a="http://schemas.openxmlformats.org/drawingml/2006/main" noGrp="1"/>
          </p:cNvSpPr>
          <p:nvPr/>
        </p:nvSpPr>
        <p:spPr>
          <a:xfrm xmlns:a="http://schemas.openxmlformats.org/drawingml/2006/main">
            <a:off x="8096250" y="4762500"/>
            <a:ext cx="6191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725" b="0">
                <a:solidFill>
                  <a:srgbClr val="17212B"/>
                </a:solidFill>
                <a:latin typeface="Arial"/>
                <a:ea typeface="Arial"/>
                <a:cs typeface="Arial"/>
              </a:defRPr>
            </a:pPr>
            <a:r>
              <a:rPr sz="1725" b="0">
                <a:solidFill>
                  <a:srgbClr val="17212B"/>
                </a:solidFill>
                <a:latin typeface="Arial"/>
                <a:ea typeface="Arial"/>
                <a:cs typeface="Arial"/>
              </a:rPr>
              <a:t>•  Target user: amateur-radio operators relying on HF propagation.</a:t>
            </a:r>
          </a:p>
          <a:p xmlns:a="http://schemas.openxmlformats.org/drawingml/2006/main">
            <a:r>
              <a:t/>
            </a:r>
          </a:p>
          <a:p xmlns:a="http://schemas.openxmlformats.org/drawingml/2006/main">
            <a:pPr algn="l">
              <a:lnSpc>
                <a:spcPct val="115000"/>
              </a:lnSpc>
              <a:buNone/>
              <a:defRPr sz="1725" b="0">
                <a:solidFill>
                  <a:srgbClr val="17212B"/>
                </a:solidFill>
                <a:latin typeface="Arial"/>
                <a:ea typeface="Arial"/>
                <a:cs typeface="Arial"/>
              </a:defRPr>
            </a:pPr>
            <a:r>
              <a:rPr sz="1725" b="0">
                <a:solidFill>
                  <a:srgbClr val="17212B"/>
                </a:solidFill>
                <a:latin typeface="Arial"/>
                <a:ea typeface="Arial"/>
                <a:cs typeface="Arial"/>
              </a:rPr>
              <a:t>•  No repeated alerts while the window remains elevated.</a:t>
            </a:r>
          </a:p>
          <a:p xmlns:a="http://schemas.openxmlformats.org/drawingml/2006/main">
            <a:r>
              <a:t/>
            </a:r>
          </a:p>
          <a:p xmlns:a="http://schemas.openxmlformats.org/drawingml/2006/main">
            <a:pPr algn="l">
              <a:lnSpc>
                <a:spcPct val="115000"/>
              </a:lnSpc>
              <a:buNone/>
              <a:defRPr sz="1725" b="0">
                <a:solidFill>
                  <a:srgbClr val="17212B"/>
                </a:solidFill>
                <a:latin typeface="Arial"/>
                <a:ea typeface="Arial"/>
                <a:cs typeface="Arial"/>
              </a:defRPr>
            </a:pPr>
            <a:r>
              <a:rPr sz="1725" b="0">
                <a:solidFill>
                  <a:srgbClr val="17212B"/>
                </a:solidFill>
                <a:latin typeface="Arial"/>
                <a:ea typeface="Arial"/>
                <a:cs typeface="Arial"/>
              </a:rPr>
              <a:t>•  The rule rearms only after the rolling maximum falls below 6.</a:t>
            </a:r>
          </a:p>
        </p:txBody>
      </p:sp>
      <p:sp>
        <p:nvSpPr>
          <p:cNvPr id="8" name="footer-2-label">
            <a:extLst xmlns:a="http://schemas.openxmlformats.org/drawingml/2006/main">
              <a:ext uri="{FF2B5EF4-FFF2-40B4-BE49-F238E27FC236}">
                <a16:creationId xmlns:a16="http://schemas.microsoft.com/office/drawing/2014/main" id="{656A4A26-8CF3-4A28-B1A9-60BE6BB25CC2}"/>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8894A0"/>
                </a:solidFill>
                <a:latin typeface="Arial"/>
                <a:ea typeface="Arial"/>
                <a:cs typeface="Arial"/>
              </a:defRPr>
            </a:pPr>
            <a:r>
              <a:rPr sz="1125" b="0">
                <a:solidFill>
                  <a:srgbClr val="8894A0"/>
                </a:solidFill>
                <a:latin typeface="Arial"/>
                <a:ea typeface="Arial"/>
                <a:cs typeface="Arial"/>
              </a:rPr>
              <a:t>Problem · user · result · why it matters</a:t>
            </a:r>
          </a:p>
        </p:txBody>
      </p:sp>
      <p:sp>
        <p:nvSpPr>
          <p:cNvPr id="9" name="footer-2-number">
            <a:extLst xmlns:a="http://schemas.openxmlformats.org/drawingml/2006/main">
              <a:ext uri="{FF2B5EF4-FFF2-40B4-BE49-F238E27FC236}">
                <a16:creationId xmlns:a16="http://schemas.microsoft.com/office/drawing/2014/main" id="{6D4CB7A1-C59A-4F67-B263-C293FAEBD7F0}"/>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8894A0"/>
                </a:solidFill>
                <a:latin typeface="Arial"/>
                <a:ea typeface="Arial"/>
                <a:cs typeface="Arial"/>
              </a:defRPr>
            </a:pPr>
            <a:r>
              <a:rPr sz="1125" b="0">
                <a:solidFill>
                  <a:srgbClr val="8894A0"/>
                </a:solidFill>
                <a:latin typeface="Arial"/>
                <a:ea typeface="Arial"/>
                <a:cs typeface="Arial"/>
              </a:rPr>
              <a:t>2</a:t>
            </a:r>
          </a:p>
        </p:txBody>
      </p:sp>
    </p:spTree>
    <p:extLst>
      <p:ext uri="{BB962C8B-B14F-4D97-AF65-F5344CB8AC3E}">
        <p14:creationId xmlns:p14="http://schemas.microsoft.com/office/powerpoint/2010/main" val="1318768079"/>
      </p:ext>
    </p:extLst>
  </p:cSld>
</p:sld>
</file>

<file path=ppt/slides/slide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2" name="eyebrow-Data and event con">
            <a:extLst xmlns:a="http://schemas.openxmlformats.org/drawingml/2006/main">
              <a:ext uri="{FF2B5EF4-FFF2-40B4-BE49-F238E27FC236}">
                <a16:creationId xmlns:a16="http://schemas.microsoft.com/office/drawing/2014/main" id="{14480DB1-96DF-4955-8603-FD84944E3F67}"/>
              </a:ext>
            </a:extLst>
          </p:cNvPr>
          <p:cNvSpPr>
            <a:spLocks xmlns:a="http://schemas.openxmlformats.org/drawingml/2006/main" noGrp="1"/>
          </p:cNvSpPr>
          <p:nvPr/>
        </p:nvSpPr>
        <p:spPr>
          <a:xfrm xmlns:a="http://schemas.openxmlformats.org/drawingml/2006/main">
            <a:off x="933450" y="457200"/>
            <a:ext cx="904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2F6FED"/>
                </a:solidFill>
                <a:latin typeface="Arial"/>
                <a:ea typeface="Arial"/>
                <a:cs typeface="Arial"/>
              </a:defRPr>
            </a:pPr>
            <a:r>
              <a:rPr sz="1275" b="1">
                <a:solidFill>
                  <a:srgbClr val="2F6FED"/>
                </a:solidFill>
                <a:latin typeface="Arial"/>
                <a:ea typeface="Arial"/>
                <a:cs typeface="Arial"/>
              </a:rPr>
              <a:t>DATA AND EVENT CONTRACT</a:t>
            </a:r>
          </a:p>
        </p:txBody>
      </p:sp>
      <p:sp>
        <p:nvSpPr>
          <p:cNvPr id="2" name="title-Every NOAA observa">
            <a:extLst xmlns:a="http://schemas.openxmlformats.org/drawingml/2006/main">
              <a:ext uri="{FF2B5EF4-FFF2-40B4-BE49-F238E27FC236}">
                <a16:creationId xmlns:a16="http://schemas.microsoft.com/office/drawing/2014/main" id="{C36EB502-603A-4EC7-8BEB-69879F8A6D96}"/>
              </a:ext>
            </a:extLst>
          </p:cNvPr>
          <p:cNvSpPr>
            <a:spLocks xmlns:a="http://schemas.openxmlformats.org/drawingml/2006/main" noGrp="1"/>
          </p:cNvSpPr>
          <p:nvPr/>
        </p:nvSpPr>
        <p:spPr>
          <a:xfrm xmlns:a="http://schemas.openxmlformats.org/drawingml/2006/main">
            <a:off x="933450" y="838200"/>
            <a:ext cx="133731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3675" b="1">
                <a:solidFill>
                  <a:srgbClr val="102A43"/>
                </a:solidFill>
                <a:latin typeface="Arial"/>
                <a:ea typeface="Arial"/>
                <a:cs typeface="Arial"/>
              </a:defRPr>
            </a:pPr>
            <a:r>
              <a:rPr sz="3675" b="1">
                <a:solidFill>
                  <a:srgbClr val="102A43"/>
                </a:solidFill>
                <a:latin typeface="Arial"/>
                <a:ea typeface="Arial"/>
                <a:cs typeface="Arial"/>
              </a:rPr>
              <a:t>Every NOAA observation becomes one ordered Kafka event</a:t>
            </a:r>
          </a:p>
        </p:txBody>
      </p:sp>
      <p:sp>
        <p:nvSpPr>
          <p:cNvPr id="3" name="s3-source">
            <a:extLst xmlns:a="http://schemas.openxmlformats.org/drawingml/2006/main">
              <a:ext uri="{FF2B5EF4-FFF2-40B4-BE49-F238E27FC236}">
                <a16:creationId xmlns:a16="http://schemas.microsoft.com/office/drawing/2014/main" id="{20995705-0F22-4628-8DE6-03BE9D9C06F3}"/>
              </a:ext>
            </a:extLst>
          </p:cNvPr>
          <p:cNvSpPr>
            <a:spLocks xmlns:a="http://schemas.openxmlformats.org/drawingml/2006/main" noGrp="1"/>
          </p:cNvSpPr>
          <p:nvPr/>
        </p:nvSpPr>
        <p:spPr>
          <a:xfrm xmlns:a="http://schemas.openxmlformats.org/drawingml/2006/main">
            <a:off x="933450" y="2647950"/>
            <a:ext cx="5810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128"/>
          </a:bodyPr>
          <a:lstStyle xmlns:a="http://schemas.openxmlformats.org/drawingml/2006/main"/>
          <a:p xmlns:a="http://schemas.openxmlformats.org/drawingml/2006/main">
            <a:pPr algn="l">
              <a:lnSpc>
                <a:spcPct val="115000"/>
              </a:lnSpc>
              <a:buNone/>
              <a:defRPr sz="1800" b="0">
                <a:solidFill>
                  <a:srgbClr val="17212B"/>
                </a:solidFill>
                <a:latin typeface="Arial"/>
                <a:ea typeface="Arial"/>
                <a:cs typeface="Arial"/>
              </a:defRPr>
            </a:pPr>
            <a:r>
              <a:rPr sz="1800" b="1">
                <a:solidFill>
                  <a:srgbClr val="17212B"/>
                </a:solidFill>
                <a:latin typeface="Arial"/>
                <a:ea typeface="Arial"/>
                <a:cs typeface="Arial"/>
              </a:rPr>
              <a:t>Source:</a:t>
            </a:r>
            <a:r>
              <a:rPr sz="1800" b="0">
                <a:solidFill>
                  <a:srgbClr val="17212B"/>
                </a:solidFill>
                <a:latin typeface="Arial"/>
                <a:ea typeface="Arial"/>
                <a:cs typeface="Arial"/>
              </a:rPr>
              <a:t> NOAA SWPC one-minute estimated planetary K-index JSON.</a:t>
            </a:r>
          </a:p>
        </p:txBody>
      </p:sp>
      <p:sp>
        <p:nvSpPr>
          <p:cNvPr id="4" name="s3-topic">
            <a:extLst xmlns:a="http://schemas.openxmlformats.org/drawingml/2006/main">
              <a:ext uri="{FF2B5EF4-FFF2-40B4-BE49-F238E27FC236}">
                <a16:creationId xmlns:a16="http://schemas.microsoft.com/office/drawing/2014/main" id="{48D87ECB-610D-4A0F-B07F-45AC5F28BE3D}"/>
              </a:ext>
            </a:extLst>
          </p:cNvPr>
          <p:cNvSpPr>
            <a:spLocks xmlns:a="http://schemas.openxmlformats.org/drawingml/2006/main" noGrp="1"/>
          </p:cNvSpPr>
          <p:nvPr/>
        </p:nvSpPr>
        <p:spPr>
          <a:xfrm xmlns:a="http://schemas.openxmlformats.org/drawingml/2006/main">
            <a:off x="933450" y="3495675"/>
            <a:ext cx="5810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800" b="0">
                <a:solidFill>
                  <a:srgbClr val="17212B"/>
                </a:solidFill>
                <a:latin typeface="Arial"/>
                <a:ea typeface="Arial"/>
                <a:cs typeface="Arial"/>
              </a:defRPr>
            </a:pPr>
            <a:r>
              <a:rPr sz="1800" b="1">
                <a:solidFill>
                  <a:srgbClr val="17212B"/>
                </a:solidFill>
                <a:latin typeface="Arial"/>
                <a:ea typeface="Arial"/>
                <a:cs typeface="Arial"/>
              </a:rPr>
              <a:t>Topic:</a:t>
            </a:r>
            <a:r>
              <a:rPr sz="1800" b="0">
                <a:solidFill>
                  <a:srgbClr val="17212B"/>
                </a:solidFill>
                <a:latin typeface="Arial"/>
                <a:ea typeface="Arial"/>
                <a:cs typeface="Arial"/>
              </a:rPr>
              <a:t> kp_observations</a:t>
            </a:r>
          </a:p>
          <a:p xmlns:a="http://schemas.openxmlformats.org/drawingml/2006/main">
            <a:pPr algn="l">
              <a:lnSpc>
                <a:spcPct val="115000"/>
              </a:lnSpc>
              <a:buNone/>
              <a:defRPr sz="1800" b="0">
                <a:solidFill>
                  <a:srgbClr val="17212B"/>
                </a:solidFill>
                <a:latin typeface="Arial"/>
                <a:ea typeface="Arial"/>
                <a:cs typeface="Arial"/>
              </a:defRPr>
            </a:pPr>
            <a:r>
              <a:rPr sz="1800" b="1">
                <a:solidFill>
                  <a:srgbClr val="17212B"/>
                </a:solidFill>
                <a:latin typeface="Arial"/>
                <a:ea typeface="Arial"/>
                <a:cs typeface="Arial"/>
              </a:rPr>
              <a:t>Key:</a:t>
            </a:r>
            <a:r>
              <a:rPr sz="1800" b="0">
                <a:solidFill>
                  <a:srgbClr val="17212B"/>
                </a:solidFill>
                <a:latin typeface="Arial"/>
                <a:ea typeface="Arial"/>
                <a:cs typeface="Arial"/>
              </a:rPr>
              <a:t> planetary_kp</a:t>
            </a:r>
          </a:p>
        </p:txBody>
      </p:sp>
      <p:sp>
        <p:nvSpPr>
          <p:cNvPr id="5" name="s3-validation">
            <a:extLst xmlns:a="http://schemas.openxmlformats.org/drawingml/2006/main">
              <a:ext uri="{FF2B5EF4-FFF2-40B4-BE49-F238E27FC236}">
                <a16:creationId xmlns:a16="http://schemas.microsoft.com/office/drawing/2014/main" id="{3506B9F2-8F59-4A99-BFB1-979DCB585CB5}"/>
              </a:ext>
            </a:extLst>
          </p:cNvPr>
          <p:cNvSpPr>
            <a:spLocks xmlns:a="http://schemas.openxmlformats.org/drawingml/2006/main" noGrp="1"/>
          </p:cNvSpPr>
          <p:nvPr/>
        </p:nvSpPr>
        <p:spPr>
          <a:xfrm xmlns:a="http://schemas.openxmlformats.org/drawingml/2006/main">
            <a:off x="933450" y="4552950"/>
            <a:ext cx="581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800" b="0">
                <a:solidFill>
                  <a:srgbClr val="17212B"/>
                </a:solidFill>
                <a:latin typeface="Arial"/>
                <a:ea typeface="Arial"/>
                <a:cs typeface="Arial"/>
              </a:defRPr>
            </a:pPr>
            <a:r>
              <a:rPr sz="1800" b="1">
                <a:solidFill>
                  <a:srgbClr val="17212B"/>
                </a:solidFill>
                <a:latin typeface="Arial"/>
                <a:ea typeface="Arial"/>
                <a:cs typeface="Arial"/>
              </a:rPr>
              <a:t>Validation:</a:t>
            </a:r>
            <a:r>
              <a:rPr sz="1800" b="0">
                <a:solidFill>
                  <a:srgbClr val="17212B"/>
                </a:solidFill>
                <a:latin typeface="Arial"/>
                <a:ea typeface="Arial"/>
                <a:cs typeface="Arial"/>
              </a:rPr>
              <a:t> UTC timestamps, Kp from 0–9, approved provenance, exact four-field contract.</a:t>
            </a:r>
          </a:p>
        </p:txBody>
      </p:sp>
      <p:sp>
        <p:nvSpPr>
          <p:cNvPr id="6" name="s3-source-note">
            <a:extLst xmlns:a="http://schemas.openxmlformats.org/drawingml/2006/main">
              <a:ext uri="{FF2B5EF4-FFF2-40B4-BE49-F238E27FC236}">
                <a16:creationId xmlns:a16="http://schemas.microsoft.com/office/drawing/2014/main" id="{A598F622-A3EB-472A-8A00-D6AD41310C7D}"/>
              </a:ext>
            </a:extLst>
          </p:cNvPr>
          <p:cNvSpPr>
            <a:spLocks xmlns:a="http://schemas.openxmlformats.org/drawingml/2006/main" noGrp="1"/>
          </p:cNvSpPr>
          <p:nvPr/>
        </p:nvSpPr>
        <p:spPr>
          <a:xfrm xmlns:a="http://schemas.openxmlformats.org/drawingml/2006/main">
            <a:off x="933450" y="5619750"/>
            <a:ext cx="5810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350" b="0">
                <a:solidFill>
                  <a:srgbClr val="617080"/>
                </a:solidFill>
                <a:latin typeface="Arial"/>
                <a:ea typeface="Arial"/>
                <a:cs typeface="Arial"/>
              </a:defRPr>
            </a:pPr>
            <a:r>
              <a:rPr sz="1350" b="0">
                <a:solidFill>
                  <a:srgbClr val="617080"/>
                </a:solidFill>
                <a:latin typeface="Arial"/>
                <a:ea typeface="Arial"/>
                <a:cs typeface="Arial"/>
              </a:rPr>
              <a:t>The alert demo uses a clearly labeled synthetic replay because live conditions were quiet. A committed raw NOAA sample verifies the source shape.</a:t>
            </a:r>
          </a:p>
        </p:txBody>
      </p:sp>
      <p:sp>
        <p:nvSpPr>
          <p:cNvPr id="7" name="s3-event-box">
            <a:extLst xmlns:a="http://schemas.openxmlformats.org/drawingml/2006/main">
              <a:ext uri="{FF2B5EF4-FFF2-40B4-BE49-F238E27FC236}">
                <a16:creationId xmlns:a16="http://schemas.microsoft.com/office/drawing/2014/main" id="{E780305C-6125-4193-A0EA-BC663EA7527C}"/>
              </a:ext>
            </a:extLst>
          </p:cNvPr>
          <p:cNvSpPr>
            <a:spLocks xmlns:a="http://schemas.openxmlformats.org/drawingml/2006/main" noGrp="1"/>
          </p:cNvSpPr>
          <p:nvPr/>
        </p:nvSpPr>
        <p:spPr>
          <a:xfrm xmlns:a="http://schemas.openxmlformats.org/drawingml/2006/main">
            <a:off x="7667625" y="2457450"/>
            <a:ext cx="6638925" cy="3667125"/>
          </a:xfrm>
          <a:prstGeom xmlns:a="http://schemas.openxmlformats.org/drawingml/2006/main" prst="roundRect">
            <a:avLst>
              <a:gd name="adj" fmla="val 3636"/>
            </a:avLst>
          </a:prstGeom>
          <a:solidFill xmlns:a="http://schemas.openxmlformats.org/drawingml/2006/main">
            <a:srgbClr val="102A43"/>
          </a:solidFill>
          <a:ln xmlns:a="http://schemas.openxmlformats.org/drawingml/2006/main" w="0">
            <a:noFill/>
            <a:prstDash val="solid"/>
          </a:ln>
        </p:spPr>
      </p:sp>
      <p:sp>
        <p:nvSpPr>
          <p:cNvPr id="8" name="s3-event-code">
            <a:extLst xmlns:a="http://schemas.openxmlformats.org/drawingml/2006/main">
              <a:ext uri="{FF2B5EF4-FFF2-40B4-BE49-F238E27FC236}">
                <a16:creationId xmlns:a16="http://schemas.microsoft.com/office/drawing/2014/main" id="{AED31649-A0B8-461E-9AF3-84A47EB33F23}"/>
              </a:ext>
            </a:extLst>
          </p:cNvPr>
          <p:cNvSpPr>
            <a:spLocks xmlns:a="http://schemas.openxmlformats.org/drawingml/2006/main" noGrp="1"/>
          </p:cNvSpPr>
          <p:nvPr/>
        </p:nvSpPr>
        <p:spPr>
          <a:xfrm xmlns:a="http://schemas.openxmlformats.org/drawingml/2006/main">
            <a:off x="8058150" y="2781300"/>
            <a:ext cx="5857875" cy="3000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8000"/>
              </a:lnSpc>
              <a:buNone/>
              <a:defRPr sz="1425" b="0">
                <a:solidFill>
                  <a:srgbClr val="EAF1F7"/>
                </a:solidFill>
                <a:latin typeface="Courier New"/>
                <a:ea typeface="Courier New"/>
                <a:cs typeface="Courier New"/>
              </a:defRPr>
            </a:pPr>
            <a:r>
              <a:rPr sz="1425" b="0">
                <a:solidFill>
                  <a:srgbClr val="EAF1F7"/>
                </a:solidFill>
                <a:latin typeface="Courier New"/>
                <a:ea typeface="Courier New"/>
                <a:cs typeface="Courier New"/>
              </a:rPr>
              <a:t>{</a:t>
            </a:r>
          </a:p>
          <a:p xmlns:a="http://schemas.openxmlformats.org/drawingml/2006/main">
            <a:pPr algn="l">
              <a:lnSpc>
                <a:spcPct val="118000"/>
              </a:lnSpc>
              <a:buNone/>
              <a:defRPr sz="1425" b="0">
                <a:solidFill>
                  <a:srgbClr val="EAF1F7"/>
                </a:solidFill>
                <a:latin typeface="Courier New"/>
                <a:ea typeface="Courier New"/>
                <a:cs typeface="Courier New"/>
              </a:defRPr>
            </a:pPr>
            <a:r>
              <a:rPr sz="1425" b="0">
                <a:solidFill>
                  <a:srgbClr val="EAF1F7"/>
                </a:solidFill>
                <a:latin typeface="Courier New"/>
                <a:ea typeface="Courier New"/>
                <a:cs typeface="Courier New"/>
              </a:rPr>
              <a:t>  "time_tag": "2026-08-11T00:10:00Z",</a:t>
            </a:r>
          </a:p>
          <a:p xmlns:a="http://schemas.openxmlformats.org/drawingml/2006/main">
            <a:pPr algn="l">
              <a:lnSpc>
                <a:spcPct val="118000"/>
              </a:lnSpc>
              <a:buNone/>
              <a:defRPr sz="1425" b="0">
                <a:solidFill>
                  <a:srgbClr val="EAF1F7"/>
                </a:solidFill>
                <a:latin typeface="Courier New"/>
                <a:ea typeface="Courier New"/>
                <a:cs typeface="Courier New"/>
              </a:defRPr>
            </a:pPr>
            <a:r>
              <a:rPr sz="1425" b="0">
                <a:solidFill>
                  <a:srgbClr val="EAF1F7"/>
                </a:solidFill>
                <a:latin typeface="Courier New"/>
                <a:ea typeface="Courier New"/>
                <a:cs typeface="Courier New"/>
              </a:rPr>
              <a:t>  "kp_value": 6.3,</a:t>
            </a:r>
          </a:p>
          <a:p xmlns:a="http://schemas.openxmlformats.org/drawingml/2006/main">
            <a:pPr algn="l">
              <a:lnSpc>
                <a:spcPct val="118000"/>
              </a:lnSpc>
              <a:buNone/>
              <a:defRPr sz="1425" b="0">
                <a:solidFill>
                  <a:srgbClr val="EAF1F7"/>
                </a:solidFill>
                <a:latin typeface="Courier New"/>
                <a:ea typeface="Courier New"/>
                <a:cs typeface="Courier New"/>
              </a:defRPr>
            </a:pPr>
            <a:r>
              <a:rPr sz="1425" b="0">
                <a:solidFill>
                  <a:srgbClr val="EAF1F7"/>
                </a:solidFill>
                <a:latin typeface="Courier New"/>
                <a:ea typeface="Courier New"/>
                <a:cs typeface="Courier New"/>
              </a:rPr>
              <a:t>  "source": "synthetic://kp-threshold-fixture",</a:t>
            </a:r>
          </a:p>
          <a:p xmlns:a="http://schemas.openxmlformats.org/drawingml/2006/main">
            <a:pPr algn="l">
              <a:lnSpc>
                <a:spcPct val="118000"/>
              </a:lnSpc>
              <a:buNone/>
              <a:defRPr sz="1425" b="0">
                <a:solidFill>
                  <a:srgbClr val="EAF1F7"/>
                </a:solidFill>
                <a:latin typeface="Courier New"/>
                <a:ea typeface="Courier New"/>
                <a:cs typeface="Courier New"/>
              </a:defRPr>
            </a:pPr>
            <a:r>
              <a:rPr sz="1425" b="0">
                <a:solidFill>
                  <a:srgbClr val="EAF1F7"/>
                </a:solidFill>
                <a:latin typeface="Courier New"/>
                <a:ea typeface="Courier New"/>
                <a:cs typeface="Courier New"/>
              </a:rPr>
              <a:t>  "ingested_at": "2026-08-11T00:10:05Z"</a:t>
            </a:r>
          </a:p>
          <a:p xmlns:a="http://schemas.openxmlformats.org/drawingml/2006/main">
            <a:pPr algn="l">
              <a:lnSpc>
                <a:spcPct val="118000"/>
              </a:lnSpc>
              <a:buNone/>
              <a:defRPr sz="1425" b="0">
                <a:solidFill>
                  <a:srgbClr val="EAF1F7"/>
                </a:solidFill>
                <a:latin typeface="Courier New"/>
                <a:ea typeface="Courier New"/>
                <a:cs typeface="Courier New"/>
              </a:defRPr>
            </a:pPr>
            <a:r>
              <a:rPr sz="1425" b="0">
                <a:solidFill>
                  <a:srgbClr val="EAF1F7"/>
                </a:solidFill>
                <a:latin typeface="Courier New"/>
                <a:ea typeface="Courier New"/>
                <a:cs typeface="Courier New"/>
              </a:rPr>
              <a:t>}</a:t>
            </a:r>
          </a:p>
        </p:txBody>
      </p:sp>
      <p:sp>
        <p:nvSpPr>
          <p:cNvPr id="9" name="s3-record-caption">
            <a:extLst xmlns:a="http://schemas.openxmlformats.org/drawingml/2006/main">
              <a:ext uri="{FF2B5EF4-FFF2-40B4-BE49-F238E27FC236}">
                <a16:creationId xmlns:a16="http://schemas.microsoft.com/office/drawing/2014/main" id="{573989E3-DF71-4774-9339-17CE859B1269}"/>
              </a:ext>
            </a:extLst>
          </p:cNvPr>
          <p:cNvSpPr>
            <a:spLocks xmlns:a="http://schemas.openxmlformats.org/drawingml/2006/main" noGrp="1"/>
          </p:cNvSpPr>
          <p:nvPr/>
        </p:nvSpPr>
        <p:spPr>
          <a:xfrm xmlns:a="http://schemas.openxmlformats.org/drawingml/2006/main">
            <a:off x="7667625" y="6324600"/>
            <a:ext cx="66389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350" b="0">
                <a:solidFill>
                  <a:srgbClr val="617080"/>
                </a:solidFill>
                <a:latin typeface="Arial"/>
                <a:ea typeface="Arial"/>
                <a:cs typeface="Arial"/>
              </a:defRPr>
            </a:pPr>
            <a:r>
              <a:rPr sz="1350" b="0">
                <a:solidFill>
                  <a:srgbClr val="617080"/>
                </a:solidFill>
                <a:latin typeface="Arial"/>
                <a:ea typeface="Arial"/>
                <a:cs typeface="Arial"/>
              </a:rPr>
              <a:t>Representative record: the first event that creates an alert.</a:t>
            </a:r>
          </a:p>
        </p:txBody>
      </p:sp>
      <p:sp>
        <p:nvSpPr>
          <p:cNvPr id="10" name="footer-3-label">
            <a:extLst xmlns:a="http://schemas.openxmlformats.org/drawingml/2006/main">
              <a:ext uri="{FF2B5EF4-FFF2-40B4-BE49-F238E27FC236}">
                <a16:creationId xmlns:a16="http://schemas.microsoft.com/office/drawing/2014/main" id="{129CE0EF-5D1E-4948-BF66-FBD70BF8E155}"/>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8894A0"/>
                </a:solidFill>
                <a:latin typeface="Arial"/>
                <a:ea typeface="Arial"/>
                <a:cs typeface="Arial"/>
              </a:defRPr>
            </a:pPr>
            <a:r>
              <a:rPr sz="1125" b="0">
                <a:solidFill>
                  <a:srgbClr val="8894A0"/>
                </a:solidFill>
                <a:latin typeface="Arial"/>
                <a:ea typeface="Arial"/>
                <a:cs typeface="Arial"/>
              </a:rPr>
              <a:t>Source · Kafka event · key fields · representative record</a:t>
            </a:r>
          </a:p>
        </p:txBody>
      </p:sp>
      <p:sp>
        <p:nvSpPr>
          <p:cNvPr id="11" name="footer-3-number">
            <a:extLst xmlns:a="http://schemas.openxmlformats.org/drawingml/2006/main">
              <a:ext uri="{FF2B5EF4-FFF2-40B4-BE49-F238E27FC236}">
                <a16:creationId xmlns:a16="http://schemas.microsoft.com/office/drawing/2014/main" id="{3E84E808-9B26-44B0-A69C-51C5C103DAB8}"/>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8894A0"/>
                </a:solidFill>
                <a:latin typeface="Arial"/>
                <a:ea typeface="Arial"/>
                <a:cs typeface="Arial"/>
              </a:defRPr>
            </a:pPr>
            <a:r>
              <a:rPr sz="1125" b="0">
                <a:solidFill>
                  <a:srgbClr val="8894A0"/>
                </a:solidFill>
                <a:latin typeface="Arial"/>
                <a:ea typeface="Arial"/>
                <a:cs typeface="Arial"/>
              </a:rPr>
              <a:t>3</a:t>
            </a:r>
          </a:p>
        </p:txBody>
      </p:sp>
    </p:spTree>
    <p:extLst>
      <p:ext uri="{BB962C8B-B14F-4D97-AF65-F5344CB8AC3E}">
        <p14:creationId xmlns:p14="http://schemas.microsoft.com/office/powerpoint/2010/main" val="750122894"/>
      </p:ext>
    </p:extLst>
  </p:cSld>
</p:sld>
</file>

<file path=ppt/slides/slide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33" name="eyebrow-Implemented archit">
            <a:extLst xmlns:a="http://schemas.openxmlformats.org/drawingml/2006/main">
              <a:ext uri="{FF2B5EF4-FFF2-40B4-BE49-F238E27FC236}">
                <a16:creationId xmlns:a16="http://schemas.microsoft.com/office/drawing/2014/main" id="{D997FE1E-369F-4357-9D2D-0B9F83830F4F}"/>
              </a:ext>
            </a:extLst>
          </p:cNvPr>
          <p:cNvSpPr>
            <a:spLocks xmlns:a="http://schemas.openxmlformats.org/drawingml/2006/main" noGrp="1"/>
          </p:cNvSpPr>
          <p:nvPr/>
        </p:nvSpPr>
        <p:spPr>
          <a:xfrm xmlns:a="http://schemas.openxmlformats.org/drawingml/2006/main">
            <a:off x="933450" y="457200"/>
            <a:ext cx="904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2F6FED"/>
                </a:solidFill>
                <a:latin typeface="Arial"/>
                <a:ea typeface="Arial"/>
                <a:cs typeface="Arial"/>
              </a:defRPr>
            </a:pPr>
            <a:r>
              <a:rPr sz="1275" b="1">
                <a:solidFill>
                  <a:srgbClr val="2F6FED"/>
                </a:solidFill>
                <a:latin typeface="Arial"/>
                <a:ea typeface="Arial"/>
                <a:cs typeface="Arial"/>
              </a:rPr>
              <a:t>IMPLEMENTED ARCHITECTURE</a:t>
            </a:r>
          </a:p>
        </p:txBody>
      </p:sp>
      <p:sp>
        <p:nvSpPr>
          <p:cNvPr id="2" name="title-Kafka separates va">
            <a:extLst xmlns:a="http://schemas.openxmlformats.org/drawingml/2006/main">
              <a:ext uri="{FF2B5EF4-FFF2-40B4-BE49-F238E27FC236}">
                <a16:creationId xmlns:a16="http://schemas.microsoft.com/office/drawing/2014/main" id="{BB1CBB83-CB14-463C-B0E1-39D82EE0F759}"/>
              </a:ext>
            </a:extLst>
          </p:cNvPr>
          <p:cNvSpPr>
            <a:spLocks xmlns:a="http://schemas.openxmlformats.org/drawingml/2006/main" noGrp="1"/>
          </p:cNvSpPr>
          <p:nvPr/>
        </p:nvSpPr>
        <p:spPr>
          <a:xfrm xmlns:a="http://schemas.openxmlformats.org/drawingml/2006/main">
            <a:off x="933450" y="838200"/>
            <a:ext cx="133731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3675" b="1">
                <a:solidFill>
                  <a:srgbClr val="102A43"/>
                </a:solidFill>
                <a:latin typeface="Arial"/>
                <a:ea typeface="Arial"/>
                <a:cs typeface="Arial"/>
              </a:defRPr>
            </a:pPr>
            <a:r>
              <a:rPr sz="3675" b="1">
                <a:solidFill>
                  <a:srgbClr val="102A43"/>
                </a:solidFill>
                <a:latin typeface="Arial"/>
                <a:ea typeface="Arial"/>
                <a:cs typeface="Arial"/>
              </a:rPr>
              <a:t>Kafka separates validated ingestion from stateful alert logic</a:t>
            </a:r>
          </a:p>
        </p:txBody>
      </p:sp>
      <p:sp>
        <p:nvSpPr>
          <p:cNvPr id="3" name="stage-1-background">
            <a:extLst xmlns:a="http://schemas.openxmlformats.org/drawingml/2006/main">
              <a:ext uri="{FF2B5EF4-FFF2-40B4-BE49-F238E27FC236}">
                <a16:creationId xmlns:a16="http://schemas.microsoft.com/office/drawing/2014/main" id="{FDE57312-3EB6-4511-931F-B0C52E269359}"/>
              </a:ext>
            </a:extLst>
          </p:cNvPr>
          <p:cNvSpPr>
            <a:spLocks xmlns:a="http://schemas.openxmlformats.org/drawingml/2006/main" noGrp="1"/>
          </p:cNvSpPr>
          <p:nvPr/>
        </p:nvSpPr>
        <p:spPr>
          <a:xfrm xmlns:a="http://schemas.openxmlformats.org/drawingml/2006/main">
            <a:off x="933450" y="1809750"/>
            <a:ext cx="2286000" cy="1352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stage-1-accent">
            <a:extLst xmlns:a="http://schemas.openxmlformats.org/drawingml/2006/main">
              <a:ext uri="{FF2B5EF4-FFF2-40B4-BE49-F238E27FC236}">
                <a16:creationId xmlns:a16="http://schemas.microsoft.com/office/drawing/2014/main" id="{1AA4DEAD-5487-4A57-9418-27D975319632}"/>
              </a:ext>
            </a:extLst>
          </p:cNvPr>
          <p:cNvSpPr>
            <a:spLocks xmlns:a="http://schemas.openxmlformats.org/drawingml/2006/main" noGrp="1"/>
          </p:cNvSpPr>
          <p:nvPr/>
        </p:nvSpPr>
        <p:spPr>
          <a:xfrm xmlns:a="http://schemas.openxmlformats.org/drawingml/2006/main">
            <a:off x="933450" y="1809750"/>
            <a:ext cx="2286000" cy="57150"/>
          </a:xfrm>
          <a:prstGeom xmlns:a="http://schemas.openxmlformats.org/drawingml/2006/main" prst="rect">
            <a:avLst/>
          </a:prstGeom>
          <a:solidFill xmlns:a="http://schemas.openxmlformats.org/drawingml/2006/main">
            <a:srgbClr val="2F6FED"/>
          </a:solidFill>
          <a:ln xmlns:a="http://schemas.openxmlformats.org/drawingml/2006/main" w="0">
            <a:noFill/>
            <a:prstDash val="solid"/>
          </a:ln>
        </p:spPr>
      </p:sp>
      <p:sp>
        <p:nvSpPr>
          <p:cNvPr id="5" name="stage-1-heading">
            <a:extLst xmlns:a="http://schemas.openxmlformats.org/drawingml/2006/main">
              <a:ext uri="{FF2B5EF4-FFF2-40B4-BE49-F238E27FC236}">
                <a16:creationId xmlns:a16="http://schemas.microsoft.com/office/drawing/2014/main" id="{540EA79F-4CB3-4B8D-AA0E-BD8493FC21DD}"/>
              </a:ext>
            </a:extLst>
          </p:cNvPr>
          <p:cNvSpPr>
            <a:spLocks xmlns:a="http://schemas.openxmlformats.org/drawingml/2006/main" noGrp="1"/>
          </p:cNvSpPr>
          <p:nvPr/>
        </p:nvSpPr>
        <p:spPr>
          <a:xfrm xmlns:a="http://schemas.openxmlformats.org/drawingml/2006/main">
            <a:off x="1095375" y="2009775"/>
            <a:ext cx="1962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02A43"/>
                </a:solidFill>
                <a:latin typeface="Arial"/>
                <a:ea typeface="Arial"/>
                <a:cs typeface="Arial"/>
              </a:defRPr>
            </a:pPr>
            <a:r>
              <a:rPr sz="1725" b="1">
                <a:solidFill>
                  <a:srgbClr val="102A43"/>
                </a:solidFill>
                <a:latin typeface="Arial"/>
                <a:ea typeface="Arial"/>
                <a:cs typeface="Arial"/>
              </a:rPr>
              <a:t>Replay</a:t>
            </a:r>
          </a:p>
        </p:txBody>
      </p:sp>
      <p:sp>
        <p:nvSpPr>
          <p:cNvPr id="6" name="stage-1-copy">
            <a:extLst xmlns:a="http://schemas.openxmlformats.org/drawingml/2006/main">
              <a:ext uri="{FF2B5EF4-FFF2-40B4-BE49-F238E27FC236}">
                <a16:creationId xmlns:a16="http://schemas.microsoft.com/office/drawing/2014/main" id="{E5E08981-67A6-43D6-B671-76D928F72CFD}"/>
              </a:ext>
            </a:extLst>
          </p:cNvPr>
          <p:cNvSpPr>
            <a:spLocks xmlns:a="http://schemas.openxmlformats.org/drawingml/2006/main" noGrp="1"/>
          </p:cNvSpPr>
          <p:nvPr/>
        </p:nvSpPr>
        <p:spPr>
          <a:xfrm xmlns:a="http://schemas.openxmlformats.org/drawingml/2006/main">
            <a:off x="1095375" y="2381250"/>
            <a:ext cx="1962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9 labeled JSONL events</a:t>
            </a:r>
          </a:p>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including 1 duplicate</a:t>
            </a:r>
          </a:p>
        </p:txBody>
      </p:sp>
      <p:sp>
        <p:nvSpPr>
          <p:cNvPr id="7" name="stage-2-background">
            <a:extLst xmlns:a="http://schemas.openxmlformats.org/drawingml/2006/main">
              <a:ext uri="{FF2B5EF4-FFF2-40B4-BE49-F238E27FC236}">
                <a16:creationId xmlns:a16="http://schemas.microsoft.com/office/drawing/2014/main" id="{CE39B752-8CB0-475A-910E-5A55BD3C926C}"/>
              </a:ext>
            </a:extLst>
          </p:cNvPr>
          <p:cNvSpPr>
            <a:spLocks xmlns:a="http://schemas.openxmlformats.org/drawingml/2006/main" noGrp="1"/>
          </p:cNvSpPr>
          <p:nvPr/>
        </p:nvSpPr>
        <p:spPr>
          <a:xfrm xmlns:a="http://schemas.openxmlformats.org/drawingml/2006/main">
            <a:off x="3705225" y="1809750"/>
            <a:ext cx="2286000" cy="1352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stage-2-accent">
            <a:extLst xmlns:a="http://schemas.openxmlformats.org/drawingml/2006/main">
              <a:ext uri="{FF2B5EF4-FFF2-40B4-BE49-F238E27FC236}">
                <a16:creationId xmlns:a16="http://schemas.microsoft.com/office/drawing/2014/main" id="{8A14A7CF-8906-4897-BCA6-20EEFC382D5E}"/>
              </a:ext>
            </a:extLst>
          </p:cNvPr>
          <p:cNvSpPr>
            <a:spLocks xmlns:a="http://schemas.openxmlformats.org/drawingml/2006/main" noGrp="1"/>
          </p:cNvSpPr>
          <p:nvPr/>
        </p:nvSpPr>
        <p:spPr>
          <a:xfrm xmlns:a="http://schemas.openxmlformats.org/drawingml/2006/main">
            <a:off x="3705225" y="1809750"/>
            <a:ext cx="2286000" cy="57150"/>
          </a:xfrm>
          <a:prstGeom xmlns:a="http://schemas.openxmlformats.org/drawingml/2006/main" prst="rect">
            <a:avLst/>
          </a:prstGeom>
          <a:solidFill xmlns:a="http://schemas.openxmlformats.org/drawingml/2006/main">
            <a:srgbClr val="2F6FED"/>
          </a:solidFill>
          <a:ln xmlns:a="http://schemas.openxmlformats.org/drawingml/2006/main" w="0">
            <a:noFill/>
            <a:prstDash val="solid"/>
          </a:ln>
        </p:spPr>
      </p:sp>
      <p:sp>
        <p:nvSpPr>
          <p:cNvPr id="9" name="stage-2-heading">
            <a:extLst xmlns:a="http://schemas.openxmlformats.org/drawingml/2006/main">
              <a:ext uri="{FF2B5EF4-FFF2-40B4-BE49-F238E27FC236}">
                <a16:creationId xmlns:a16="http://schemas.microsoft.com/office/drawing/2014/main" id="{A6A072FB-042C-488F-A6A5-3DC33076D74C}"/>
              </a:ext>
            </a:extLst>
          </p:cNvPr>
          <p:cNvSpPr>
            <a:spLocks xmlns:a="http://schemas.openxmlformats.org/drawingml/2006/main" noGrp="1"/>
          </p:cNvSpPr>
          <p:nvPr/>
        </p:nvSpPr>
        <p:spPr>
          <a:xfrm xmlns:a="http://schemas.openxmlformats.org/drawingml/2006/main">
            <a:off x="3867150" y="2009775"/>
            <a:ext cx="1962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02A43"/>
                </a:solidFill>
                <a:latin typeface="Arial"/>
                <a:ea typeface="Arial"/>
                <a:cs typeface="Arial"/>
              </a:defRPr>
            </a:pPr>
            <a:r>
              <a:rPr sz="1725" b="1">
                <a:solidFill>
                  <a:srgbClr val="102A43"/>
                </a:solidFill>
                <a:latin typeface="Arial"/>
                <a:ea typeface="Arial"/>
                <a:cs typeface="Arial"/>
              </a:rPr>
              <a:t>Producer</a:t>
            </a:r>
          </a:p>
        </p:txBody>
      </p:sp>
      <p:sp>
        <p:nvSpPr>
          <p:cNvPr id="10" name="stage-2-copy">
            <a:extLst xmlns:a="http://schemas.openxmlformats.org/drawingml/2006/main">
              <a:ext uri="{FF2B5EF4-FFF2-40B4-BE49-F238E27FC236}">
                <a16:creationId xmlns:a16="http://schemas.microsoft.com/office/drawing/2014/main" id="{A5648F81-3465-4D09-9D1E-0D9492356708}"/>
              </a:ext>
            </a:extLst>
          </p:cNvPr>
          <p:cNvSpPr>
            <a:spLocks xmlns:a="http://schemas.openxmlformats.org/drawingml/2006/main" noGrp="1"/>
          </p:cNvSpPr>
          <p:nvPr/>
        </p:nvSpPr>
        <p:spPr>
          <a:xfrm xmlns:a="http://schemas.openxmlformats.org/drawingml/2006/main">
            <a:off x="3867150" y="2381250"/>
            <a:ext cx="1962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Validate first</a:t>
            </a:r>
          </a:p>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publish in event order</a:t>
            </a:r>
          </a:p>
        </p:txBody>
      </p:sp>
      <p:sp>
        <p:nvSpPr>
          <p:cNvPr id="11" name="stage-3-background">
            <a:extLst xmlns:a="http://schemas.openxmlformats.org/drawingml/2006/main">
              <a:ext uri="{FF2B5EF4-FFF2-40B4-BE49-F238E27FC236}">
                <a16:creationId xmlns:a16="http://schemas.microsoft.com/office/drawing/2014/main" id="{57171377-5E76-48F1-BBC3-0367A2DE2CCA}"/>
              </a:ext>
            </a:extLst>
          </p:cNvPr>
          <p:cNvSpPr>
            <a:spLocks xmlns:a="http://schemas.openxmlformats.org/drawingml/2006/main" noGrp="1"/>
          </p:cNvSpPr>
          <p:nvPr/>
        </p:nvSpPr>
        <p:spPr>
          <a:xfrm xmlns:a="http://schemas.openxmlformats.org/drawingml/2006/main">
            <a:off x="6477000" y="1809750"/>
            <a:ext cx="2286000" cy="1352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stage-3-accent">
            <a:extLst xmlns:a="http://schemas.openxmlformats.org/drawingml/2006/main">
              <a:ext uri="{FF2B5EF4-FFF2-40B4-BE49-F238E27FC236}">
                <a16:creationId xmlns:a16="http://schemas.microsoft.com/office/drawing/2014/main" id="{28F5C142-2521-4B43-B80F-24C190212FAA}"/>
              </a:ext>
            </a:extLst>
          </p:cNvPr>
          <p:cNvSpPr>
            <a:spLocks xmlns:a="http://schemas.openxmlformats.org/drawingml/2006/main" noGrp="1"/>
          </p:cNvSpPr>
          <p:nvPr/>
        </p:nvSpPr>
        <p:spPr>
          <a:xfrm xmlns:a="http://schemas.openxmlformats.org/drawingml/2006/main">
            <a:off x="6477000" y="1809750"/>
            <a:ext cx="2286000" cy="571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3" name="stage-3-heading">
            <a:extLst xmlns:a="http://schemas.openxmlformats.org/drawingml/2006/main">
              <a:ext uri="{FF2B5EF4-FFF2-40B4-BE49-F238E27FC236}">
                <a16:creationId xmlns:a16="http://schemas.microsoft.com/office/drawing/2014/main" id="{8F04FB36-EEC6-4992-BD76-B772655D6B6F}"/>
              </a:ext>
            </a:extLst>
          </p:cNvPr>
          <p:cNvSpPr>
            <a:spLocks xmlns:a="http://schemas.openxmlformats.org/drawingml/2006/main" noGrp="1"/>
          </p:cNvSpPr>
          <p:nvPr/>
        </p:nvSpPr>
        <p:spPr>
          <a:xfrm xmlns:a="http://schemas.openxmlformats.org/drawingml/2006/main">
            <a:off x="6638925" y="2009775"/>
            <a:ext cx="1962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02A43"/>
                </a:solidFill>
                <a:latin typeface="Arial"/>
                <a:ea typeface="Arial"/>
                <a:cs typeface="Arial"/>
              </a:defRPr>
            </a:pPr>
            <a:r>
              <a:rPr sz="1725" b="1">
                <a:solidFill>
                  <a:srgbClr val="102A43"/>
                </a:solidFill>
                <a:latin typeface="Arial"/>
                <a:ea typeface="Arial"/>
                <a:cs typeface="Arial"/>
              </a:rPr>
              <a:t>Kafka</a:t>
            </a:r>
          </a:p>
        </p:txBody>
      </p:sp>
      <p:sp>
        <p:nvSpPr>
          <p:cNvPr id="14" name="stage-3-copy">
            <a:extLst xmlns:a="http://schemas.openxmlformats.org/drawingml/2006/main">
              <a:ext uri="{FF2B5EF4-FFF2-40B4-BE49-F238E27FC236}">
                <a16:creationId xmlns:a16="http://schemas.microsoft.com/office/drawing/2014/main" id="{2A9E9B9E-CB77-40A6-A7DB-B5878B85BC78}"/>
              </a:ext>
            </a:extLst>
          </p:cNvPr>
          <p:cNvSpPr>
            <a:spLocks xmlns:a="http://schemas.openxmlformats.org/drawingml/2006/main" noGrp="1"/>
          </p:cNvSpPr>
          <p:nvPr/>
        </p:nvSpPr>
        <p:spPr>
          <a:xfrm xmlns:a="http://schemas.openxmlformats.org/drawingml/2006/main">
            <a:off x="6638925" y="2381250"/>
            <a:ext cx="1962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1 topic · 1 partition</a:t>
            </a:r>
          </a:p>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constant global key</a:t>
            </a:r>
          </a:p>
        </p:txBody>
      </p:sp>
      <p:sp>
        <p:nvSpPr>
          <p:cNvPr id="15" name="stage-4-background">
            <a:extLst xmlns:a="http://schemas.openxmlformats.org/drawingml/2006/main">
              <a:ext uri="{FF2B5EF4-FFF2-40B4-BE49-F238E27FC236}">
                <a16:creationId xmlns:a16="http://schemas.microsoft.com/office/drawing/2014/main" id="{D223F167-9A21-4746-BA36-2484C2507D24}"/>
              </a:ext>
            </a:extLst>
          </p:cNvPr>
          <p:cNvSpPr>
            <a:spLocks xmlns:a="http://schemas.openxmlformats.org/drawingml/2006/main" noGrp="1"/>
          </p:cNvSpPr>
          <p:nvPr/>
        </p:nvSpPr>
        <p:spPr>
          <a:xfrm xmlns:a="http://schemas.openxmlformats.org/drawingml/2006/main">
            <a:off x="9248775" y="1809750"/>
            <a:ext cx="2286000" cy="1352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 name="stage-4-accent">
            <a:extLst xmlns:a="http://schemas.openxmlformats.org/drawingml/2006/main">
              <a:ext uri="{FF2B5EF4-FFF2-40B4-BE49-F238E27FC236}">
                <a16:creationId xmlns:a16="http://schemas.microsoft.com/office/drawing/2014/main" id="{39ADBA65-E189-4FF2-9B9E-CE77F2D78531}"/>
              </a:ext>
            </a:extLst>
          </p:cNvPr>
          <p:cNvSpPr>
            <a:spLocks xmlns:a="http://schemas.openxmlformats.org/drawingml/2006/main" noGrp="1"/>
          </p:cNvSpPr>
          <p:nvPr/>
        </p:nvSpPr>
        <p:spPr>
          <a:xfrm xmlns:a="http://schemas.openxmlformats.org/drawingml/2006/main">
            <a:off x="9248775" y="1809750"/>
            <a:ext cx="2286000" cy="57150"/>
          </a:xfrm>
          <a:prstGeom xmlns:a="http://schemas.openxmlformats.org/drawingml/2006/main" prst="rect">
            <a:avLst/>
          </a:prstGeom>
          <a:solidFill xmlns:a="http://schemas.openxmlformats.org/drawingml/2006/main">
            <a:srgbClr val="2F6FED"/>
          </a:solidFill>
          <a:ln xmlns:a="http://schemas.openxmlformats.org/drawingml/2006/main" w="0">
            <a:noFill/>
            <a:prstDash val="solid"/>
          </a:ln>
        </p:spPr>
      </p:sp>
      <p:sp>
        <p:nvSpPr>
          <p:cNvPr id="17" name="stage-4-heading">
            <a:extLst xmlns:a="http://schemas.openxmlformats.org/drawingml/2006/main">
              <a:ext uri="{FF2B5EF4-FFF2-40B4-BE49-F238E27FC236}">
                <a16:creationId xmlns:a16="http://schemas.microsoft.com/office/drawing/2014/main" id="{9B1E82B1-835A-4F9F-8F35-7F5175988EDB}"/>
              </a:ext>
            </a:extLst>
          </p:cNvPr>
          <p:cNvSpPr>
            <a:spLocks xmlns:a="http://schemas.openxmlformats.org/drawingml/2006/main" noGrp="1"/>
          </p:cNvSpPr>
          <p:nvPr/>
        </p:nvSpPr>
        <p:spPr>
          <a:xfrm xmlns:a="http://schemas.openxmlformats.org/drawingml/2006/main">
            <a:off x="9410700" y="2009775"/>
            <a:ext cx="1962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02A43"/>
                </a:solidFill>
                <a:latin typeface="Arial"/>
                <a:ea typeface="Arial"/>
                <a:cs typeface="Arial"/>
              </a:defRPr>
            </a:pPr>
            <a:r>
              <a:rPr sz="1725" b="1">
                <a:solidFill>
                  <a:srgbClr val="102A43"/>
                </a:solidFill>
                <a:latin typeface="Arial"/>
                <a:ea typeface="Arial"/>
                <a:cs typeface="Arial"/>
              </a:rPr>
              <a:t>Consumer</a:t>
            </a:r>
          </a:p>
        </p:txBody>
      </p:sp>
      <p:sp>
        <p:nvSpPr>
          <p:cNvPr id="18" name="stage-4-copy">
            <a:extLst xmlns:a="http://schemas.openxmlformats.org/drawingml/2006/main">
              <a:ext uri="{FF2B5EF4-FFF2-40B4-BE49-F238E27FC236}">
                <a16:creationId xmlns:a16="http://schemas.microsoft.com/office/drawing/2014/main" id="{9A04B7E9-98D9-40EC-9564-78123ADC4120}"/>
              </a:ext>
            </a:extLst>
          </p:cNvPr>
          <p:cNvSpPr>
            <a:spLocks xmlns:a="http://schemas.openxmlformats.org/drawingml/2006/main" noGrp="1"/>
          </p:cNvSpPr>
          <p:nvPr/>
        </p:nvSpPr>
        <p:spPr>
          <a:xfrm xmlns:a="http://schemas.openxmlformats.org/drawingml/2006/main">
            <a:off x="9410700" y="2381250"/>
            <a:ext cx="1962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Deduplicate</a:t>
            </a:r>
          </a:p>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15-minute rolling max</a:t>
            </a:r>
          </a:p>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crossing + rearm</a:t>
            </a:r>
          </a:p>
        </p:txBody>
      </p:sp>
      <p:sp>
        <p:nvSpPr>
          <p:cNvPr id="19" name="stage-5-background">
            <a:extLst xmlns:a="http://schemas.openxmlformats.org/drawingml/2006/main">
              <a:ext uri="{FF2B5EF4-FFF2-40B4-BE49-F238E27FC236}">
                <a16:creationId xmlns:a16="http://schemas.microsoft.com/office/drawing/2014/main" id="{6819C542-EF64-4F1F-A1CE-B63E84CEF71D}"/>
              </a:ext>
            </a:extLst>
          </p:cNvPr>
          <p:cNvSpPr>
            <a:spLocks xmlns:a="http://schemas.openxmlformats.org/drawingml/2006/main" noGrp="1"/>
          </p:cNvSpPr>
          <p:nvPr/>
        </p:nvSpPr>
        <p:spPr>
          <a:xfrm xmlns:a="http://schemas.openxmlformats.org/drawingml/2006/main">
            <a:off x="12020550" y="1809750"/>
            <a:ext cx="2286000" cy="1352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 name="stage-5-accent">
            <a:extLst xmlns:a="http://schemas.openxmlformats.org/drawingml/2006/main">
              <a:ext uri="{FF2B5EF4-FFF2-40B4-BE49-F238E27FC236}">
                <a16:creationId xmlns:a16="http://schemas.microsoft.com/office/drawing/2014/main" id="{76D6B532-B613-4EDE-BB93-1CDA8D89D996}"/>
              </a:ext>
            </a:extLst>
          </p:cNvPr>
          <p:cNvSpPr>
            <a:spLocks xmlns:a="http://schemas.openxmlformats.org/drawingml/2006/main" noGrp="1"/>
          </p:cNvSpPr>
          <p:nvPr/>
        </p:nvSpPr>
        <p:spPr>
          <a:xfrm xmlns:a="http://schemas.openxmlformats.org/drawingml/2006/main">
            <a:off x="12020550" y="1809750"/>
            <a:ext cx="2286000" cy="57150"/>
          </a:xfrm>
          <a:prstGeom xmlns:a="http://schemas.openxmlformats.org/drawingml/2006/main" prst="rect">
            <a:avLst/>
          </a:prstGeom>
          <a:solidFill xmlns:a="http://schemas.openxmlformats.org/drawingml/2006/main">
            <a:srgbClr val="2F6FED"/>
          </a:solidFill>
          <a:ln xmlns:a="http://schemas.openxmlformats.org/drawingml/2006/main" w="0">
            <a:noFill/>
            <a:prstDash val="solid"/>
          </a:ln>
        </p:spPr>
      </p:sp>
      <p:sp>
        <p:nvSpPr>
          <p:cNvPr id="21" name="stage-5-heading">
            <a:extLst xmlns:a="http://schemas.openxmlformats.org/drawingml/2006/main">
              <a:ext uri="{FF2B5EF4-FFF2-40B4-BE49-F238E27FC236}">
                <a16:creationId xmlns:a16="http://schemas.microsoft.com/office/drawing/2014/main" id="{7A84776E-5F15-42A2-9890-ED262397A97D}"/>
              </a:ext>
            </a:extLst>
          </p:cNvPr>
          <p:cNvSpPr>
            <a:spLocks xmlns:a="http://schemas.openxmlformats.org/drawingml/2006/main" noGrp="1"/>
          </p:cNvSpPr>
          <p:nvPr/>
        </p:nvSpPr>
        <p:spPr>
          <a:xfrm xmlns:a="http://schemas.openxmlformats.org/drawingml/2006/main">
            <a:off x="12182475" y="2009775"/>
            <a:ext cx="1962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02A43"/>
                </a:solidFill>
                <a:latin typeface="Arial"/>
                <a:ea typeface="Arial"/>
                <a:cs typeface="Arial"/>
              </a:defRPr>
            </a:pPr>
            <a:r>
              <a:rPr sz="1725" b="1">
                <a:solidFill>
                  <a:srgbClr val="102A43"/>
                </a:solidFill>
                <a:latin typeface="Arial"/>
                <a:ea typeface="Arial"/>
                <a:cs typeface="Arial"/>
              </a:rPr>
              <a:t>Evidence</a:t>
            </a:r>
          </a:p>
        </p:txBody>
      </p:sp>
      <p:sp>
        <p:nvSpPr>
          <p:cNvPr id="22" name="stage-5-copy">
            <a:extLst xmlns:a="http://schemas.openxmlformats.org/drawingml/2006/main">
              <a:ext uri="{FF2B5EF4-FFF2-40B4-BE49-F238E27FC236}">
                <a16:creationId xmlns:a16="http://schemas.microsoft.com/office/drawing/2014/main" id="{2490AACD-FCAF-4178-A17A-33933F2F016C}"/>
              </a:ext>
            </a:extLst>
          </p:cNvPr>
          <p:cNvSpPr>
            <a:spLocks xmlns:a="http://schemas.openxmlformats.org/drawingml/2006/main" noGrp="1"/>
          </p:cNvSpPr>
          <p:nvPr/>
        </p:nvSpPr>
        <p:spPr>
          <a:xfrm xmlns:a="http://schemas.openxmlformats.org/drawingml/2006/main">
            <a:off x="12182475" y="2381250"/>
            <a:ext cx="1962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alert.json · metrics.csv</a:t>
            </a:r>
          </a:p>
          <a:p xmlns:a="http://schemas.openxmlformats.org/drawingml/2006/main">
            <a:pPr algn="l">
              <a:lnSpc>
                <a:spcPct val="105000"/>
              </a:lnSpc>
              <a:buNone/>
              <a:defRPr sz="1350" b="0">
                <a:solidFill>
                  <a:srgbClr val="617080"/>
                </a:solidFill>
                <a:latin typeface="Arial"/>
                <a:ea typeface="Arial"/>
                <a:cs typeface="Arial"/>
              </a:defRPr>
            </a:pPr>
            <a:r>
              <a:rPr sz="1350" b="0">
                <a:solidFill>
                  <a:srgbClr val="617080"/>
                </a:solidFill>
                <a:latin typeface="Arial"/>
                <a:ea typeface="Arial"/>
                <a:cs typeface="Arial"/>
              </a:rPr>
              <a:t>briefing.txt · evaluation.json</a:t>
            </a:r>
          </a:p>
        </p:txBody>
      </p:sp>
      <p:sp>
        <p:nvSpPr>
          <p:cNvPr id="23" name="s4-arrow-1">
            <a:extLst xmlns:a="http://schemas.openxmlformats.org/drawingml/2006/main">
              <a:ext uri="{FF2B5EF4-FFF2-40B4-BE49-F238E27FC236}">
                <a16:creationId xmlns:a16="http://schemas.microsoft.com/office/drawing/2014/main" id="{3A69A5CC-1B0F-4216-8916-2867C9010914}"/>
              </a:ext>
            </a:extLst>
          </p:cNvPr>
          <p:cNvSpPr>
            <a:spLocks xmlns:a="http://schemas.openxmlformats.org/drawingml/2006/main" noGrp="1"/>
          </p:cNvSpPr>
          <p:nvPr/>
        </p:nvSpPr>
        <p:spPr>
          <a:xfrm xmlns:a="http://schemas.openxmlformats.org/drawingml/2006/main">
            <a:off x="3286125" y="2238375"/>
            <a:ext cx="400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550" b="1">
                <a:solidFill>
                  <a:srgbClr val="2F6FED"/>
                </a:solidFill>
                <a:latin typeface="Arial"/>
                <a:ea typeface="Arial"/>
                <a:cs typeface="Arial"/>
              </a:defRPr>
            </a:pPr>
            <a:r>
              <a:rPr sz="2550" b="1">
                <a:solidFill>
                  <a:srgbClr val="2F6FED"/>
                </a:solidFill>
                <a:latin typeface="Arial"/>
                <a:ea typeface="Arial"/>
                <a:cs typeface="Arial"/>
              </a:rPr>
              <a:t>→</a:t>
            </a:r>
          </a:p>
        </p:txBody>
      </p:sp>
      <p:sp>
        <p:nvSpPr>
          <p:cNvPr id="24" name="s4-arrow-2">
            <a:extLst xmlns:a="http://schemas.openxmlformats.org/drawingml/2006/main">
              <a:ext uri="{FF2B5EF4-FFF2-40B4-BE49-F238E27FC236}">
                <a16:creationId xmlns:a16="http://schemas.microsoft.com/office/drawing/2014/main" id="{A4DB657F-6F07-485F-86AE-FF6ABCA8A555}"/>
              </a:ext>
            </a:extLst>
          </p:cNvPr>
          <p:cNvSpPr>
            <a:spLocks xmlns:a="http://schemas.openxmlformats.org/drawingml/2006/main" noGrp="1"/>
          </p:cNvSpPr>
          <p:nvPr/>
        </p:nvSpPr>
        <p:spPr>
          <a:xfrm xmlns:a="http://schemas.openxmlformats.org/drawingml/2006/main">
            <a:off x="6057900" y="2238375"/>
            <a:ext cx="400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550" b="1">
                <a:solidFill>
                  <a:srgbClr val="2F6FED"/>
                </a:solidFill>
                <a:latin typeface="Arial"/>
                <a:ea typeface="Arial"/>
                <a:cs typeface="Arial"/>
              </a:defRPr>
            </a:pPr>
            <a:r>
              <a:rPr sz="2550" b="1">
                <a:solidFill>
                  <a:srgbClr val="2F6FED"/>
                </a:solidFill>
                <a:latin typeface="Arial"/>
                <a:ea typeface="Arial"/>
                <a:cs typeface="Arial"/>
              </a:rPr>
              <a:t>→</a:t>
            </a:r>
          </a:p>
        </p:txBody>
      </p:sp>
      <p:sp>
        <p:nvSpPr>
          <p:cNvPr id="25" name="s4-arrow-3">
            <a:extLst xmlns:a="http://schemas.openxmlformats.org/drawingml/2006/main">
              <a:ext uri="{FF2B5EF4-FFF2-40B4-BE49-F238E27FC236}">
                <a16:creationId xmlns:a16="http://schemas.microsoft.com/office/drawing/2014/main" id="{7DF3F4AF-AF88-4A44-81FC-8947ADB4BEE0}"/>
              </a:ext>
            </a:extLst>
          </p:cNvPr>
          <p:cNvSpPr>
            <a:spLocks xmlns:a="http://schemas.openxmlformats.org/drawingml/2006/main" noGrp="1"/>
          </p:cNvSpPr>
          <p:nvPr/>
        </p:nvSpPr>
        <p:spPr>
          <a:xfrm xmlns:a="http://schemas.openxmlformats.org/drawingml/2006/main">
            <a:off x="8829675" y="2238375"/>
            <a:ext cx="400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550" b="1">
                <a:solidFill>
                  <a:srgbClr val="2F6FED"/>
                </a:solidFill>
                <a:latin typeface="Arial"/>
                <a:ea typeface="Arial"/>
                <a:cs typeface="Arial"/>
              </a:defRPr>
            </a:pPr>
            <a:r>
              <a:rPr sz="2550" b="1">
                <a:solidFill>
                  <a:srgbClr val="2F6FED"/>
                </a:solidFill>
                <a:latin typeface="Arial"/>
                <a:ea typeface="Arial"/>
                <a:cs typeface="Arial"/>
              </a:rPr>
              <a:t>→</a:t>
            </a:r>
          </a:p>
        </p:txBody>
      </p:sp>
      <p:sp>
        <p:nvSpPr>
          <p:cNvPr id="26" name="s4-arrow-4">
            <a:extLst xmlns:a="http://schemas.openxmlformats.org/drawingml/2006/main">
              <a:ext uri="{FF2B5EF4-FFF2-40B4-BE49-F238E27FC236}">
                <a16:creationId xmlns:a16="http://schemas.microsoft.com/office/drawing/2014/main" id="{C36691F6-FE02-4CEE-B6CC-2113C89736C6}"/>
              </a:ext>
            </a:extLst>
          </p:cNvPr>
          <p:cNvSpPr>
            <a:spLocks xmlns:a="http://schemas.openxmlformats.org/drawingml/2006/main" noGrp="1"/>
          </p:cNvSpPr>
          <p:nvPr/>
        </p:nvSpPr>
        <p:spPr>
          <a:xfrm xmlns:a="http://schemas.openxmlformats.org/drawingml/2006/main">
            <a:off x="11601450" y="2238375"/>
            <a:ext cx="400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550" b="1">
                <a:solidFill>
                  <a:srgbClr val="2F6FED"/>
                </a:solidFill>
                <a:latin typeface="Arial"/>
                <a:ea typeface="Arial"/>
                <a:cs typeface="Arial"/>
              </a:defRPr>
            </a:pPr>
            <a:r>
              <a:rPr sz="2550" b="1">
                <a:solidFill>
                  <a:srgbClr val="2F6FED"/>
                </a:solidFill>
                <a:latin typeface="Arial"/>
                <a:ea typeface="Arial"/>
                <a:cs typeface="Arial"/>
              </a:rPr>
              <a:t>→</a:t>
            </a:r>
          </a:p>
        </p:txBody>
      </p:sp>
      <p:sp>
        <p:nvSpPr>
          <p:cNvPr id="27" name="s4-design-choice">
            <a:extLst xmlns:a="http://schemas.openxmlformats.org/drawingml/2006/main">
              <a:ext uri="{FF2B5EF4-FFF2-40B4-BE49-F238E27FC236}">
                <a16:creationId xmlns:a16="http://schemas.microsoft.com/office/drawing/2014/main" id="{FA46C9B2-5C18-4EC1-85AB-3E0E12812F85}"/>
              </a:ext>
            </a:extLst>
          </p:cNvPr>
          <p:cNvSpPr>
            <a:spLocks xmlns:a="http://schemas.openxmlformats.org/drawingml/2006/main" noGrp="1"/>
          </p:cNvSpPr>
          <p:nvPr/>
        </p:nvSpPr>
        <p:spPr>
          <a:xfrm xmlns:a="http://schemas.openxmlformats.org/drawingml/2006/main">
            <a:off x="933450" y="3667125"/>
            <a:ext cx="133731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800" b="0">
                <a:solidFill>
                  <a:srgbClr val="17212B"/>
                </a:solidFill>
                <a:latin typeface="Arial"/>
                <a:ea typeface="Arial"/>
                <a:cs typeface="Arial"/>
              </a:defRPr>
            </a:pPr>
            <a:r>
              <a:rPr sz="1800" b="1">
                <a:solidFill>
                  <a:srgbClr val="17212B"/>
                </a:solidFill>
                <a:latin typeface="Arial"/>
                <a:ea typeface="Arial"/>
                <a:cs typeface="Arial"/>
              </a:rPr>
              <a:t>Why this architecture:</a:t>
            </a:r>
            <a:r>
              <a:rPr sz="1800" b="0">
                <a:solidFill>
                  <a:srgbClr val="17212B"/>
                </a:solidFill>
                <a:latin typeface="Arial"/>
                <a:ea typeface="Arial"/>
                <a:cs typeface="Arial"/>
              </a:rPr>
              <a:t> Kp is one global ordered series, so one partition and one constant key preserve sequence. Kafka keeps the producer and consumer independent and makes replay and duplicates observable.</a:t>
            </a:r>
          </a:p>
        </p:txBody>
      </p:sp>
      <p:sp>
        <p:nvSpPr>
          <p:cNvPr id="28" name="s4-example-background">
            <a:extLst xmlns:a="http://schemas.openxmlformats.org/drawingml/2006/main">
              <a:ext uri="{FF2B5EF4-FFF2-40B4-BE49-F238E27FC236}">
                <a16:creationId xmlns:a16="http://schemas.microsoft.com/office/drawing/2014/main" id="{4D3894BD-A83D-4A62-99DA-5C65CE12A338}"/>
              </a:ext>
            </a:extLst>
          </p:cNvPr>
          <p:cNvSpPr>
            <a:spLocks xmlns:a="http://schemas.openxmlformats.org/drawingml/2006/main" noGrp="1"/>
          </p:cNvSpPr>
          <p:nvPr/>
        </p:nvSpPr>
        <p:spPr>
          <a:xfrm xmlns:a="http://schemas.openxmlformats.org/drawingml/2006/main">
            <a:off x="933450" y="4876800"/>
            <a:ext cx="13373100" cy="781050"/>
          </a:xfrm>
          <a:prstGeom xmlns:a="http://schemas.openxmlformats.org/drawingml/2006/main" prst="rect">
            <a:avLst/>
          </a:prstGeom>
          <a:solidFill xmlns:a="http://schemas.openxmlformats.org/drawingml/2006/main">
            <a:srgbClr val="FFF1E6"/>
          </a:solidFill>
          <a:ln xmlns:a="http://schemas.openxmlformats.org/drawingml/2006/main" w="0">
            <a:noFill/>
            <a:prstDash val="solid"/>
          </a:ln>
        </p:spPr>
      </p:sp>
      <p:sp>
        <p:nvSpPr>
          <p:cNvPr id="29" name="s4-example-accent">
            <a:extLst xmlns:a="http://schemas.openxmlformats.org/drawingml/2006/main">
              <a:ext uri="{FF2B5EF4-FFF2-40B4-BE49-F238E27FC236}">
                <a16:creationId xmlns:a16="http://schemas.microsoft.com/office/drawing/2014/main" id="{3184996F-990A-4E6F-A876-27180C2C9BF8}"/>
              </a:ext>
            </a:extLst>
          </p:cNvPr>
          <p:cNvSpPr>
            <a:spLocks xmlns:a="http://schemas.openxmlformats.org/drawingml/2006/main" noGrp="1"/>
          </p:cNvSpPr>
          <p:nvPr/>
        </p:nvSpPr>
        <p:spPr>
          <a:xfrm xmlns:a="http://schemas.openxmlformats.org/drawingml/2006/main">
            <a:off x="933450" y="4876800"/>
            <a:ext cx="76200" cy="7810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30" name="s4-example">
            <a:extLst xmlns:a="http://schemas.openxmlformats.org/drawingml/2006/main">
              <a:ext uri="{FF2B5EF4-FFF2-40B4-BE49-F238E27FC236}">
                <a16:creationId xmlns:a16="http://schemas.microsoft.com/office/drawing/2014/main" id="{05659C41-15DC-49BB-BD55-1712B7BE9B24}"/>
              </a:ext>
            </a:extLst>
          </p:cNvPr>
          <p:cNvSpPr>
            <a:spLocks xmlns:a="http://schemas.openxmlformats.org/drawingml/2006/main" noGrp="1"/>
          </p:cNvSpPr>
          <p:nvPr/>
        </p:nvSpPr>
        <p:spPr>
          <a:xfrm xmlns:a="http://schemas.openxmlformats.org/drawingml/2006/main">
            <a:off x="1219200" y="5057775"/>
            <a:ext cx="12811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650" b="0">
                <a:solidFill>
                  <a:srgbClr val="102A43"/>
                </a:solidFill>
                <a:latin typeface="Arial"/>
                <a:ea typeface="Arial"/>
                <a:cs typeface="Arial"/>
              </a:defRPr>
            </a:pPr>
            <a:r>
              <a:rPr sz="1650" b="1">
                <a:solidFill>
                  <a:srgbClr val="102A43"/>
                </a:solidFill>
                <a:latin typeface="Arial"/>
                <a:ea typeface="Arial"/>
                <a:cs typeface="Arial"/>
              </a:rPr>
              <a:t>Example:</a:t>
            </a:r>
            <a:r>
              <a:rPr sz="1650" b="0">
                <a:solidFill>
                  <a:srgbClr val="102A43"/>
                </a:solidFill>
                <a:latin typeface="Arial"/>
                <a:ea typeface="Arial"/>
                <a:cs typeface="Arial"/>
              </a:rPr>
              <a:t> Kp 6.3 arrives → rolling 15-minute maximum becomes 6.3 → first crossing of Kp ≥ 6 → alert #1</a:t>
            </a:r>
          </a:p>
        </p:txBody>
      </p:sp>
      <p:sp>
        <p:nvSpPr>
          <p:cNvPr id="31" name="footer-4-label">
            <a:extLst xmlns:a="http://schemas.openxmlformats.org/drawingml/2006/main">
              <a:ext uri="{FF2B5EF4-FFF2-40B4-BE49-F238E27FC236}">
                <a16:creationId xmlns:a16="http://schemas.microsoft.com/office/drawing/2014/main" id="{6521B86B-B9B0-4A99-9A55-5C0BF1A79D99}"/>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8894A0"/>
                </a:solidFill>
                <a:latin typeface="Arial"/>
                <a:ea typeface="Arial"/>
                <a:cs typeface="Arial"/>
              </a:defRPr>
            </a:pPr>
            <a:r>
              <a:rPr sz="1125" b="0">
                <a:solidFill>
                  <a:srgbClr val="8894A0"/>
                </a:solidFill>
                <a:latin typeface="Arial"/>
                <a:ea typeface="Arial"/>
                <a:cs typeface="Arial"/>
              </a:rPr>
              <a:t>Concrete example: Kp 6.3 → first crossing → alert #1</a:t>
            </a:r>
          </a:p>
        </p:txBody>
      </p:sp>
      <p:sp>
        <p:nvSpPr>
          <p:cNvPr id="32" name="footer-4-number">
            <a:extLst xmlns:a="http://schemas.openxmlformats.org/drawingml/2006/main">
              <a:ext uri="{FF2B5EF4-FFF2-40B4-BE49-F238E27FC236}">
                <a16:creationId xmlns:a16="http://schemas.microsoft.com/office/drawing/2014/main" id="{5FC8B186-AA41-490E-B800-98239207459B}"/>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8894A0"/>
                </a:solidFill>
                <a:latin typeface="Arial"/>
                <a:ea typeface="Arial"/>
                <a:cs typeface="Arial"/>
              </a:defRPr>
            </a:pPr>
            <a:r>
              <a:rPr sz="1125" b="0">
                <a:solidFill>
                  <a:srgbClr val="8894A0"/>
                </a:solidFill>
                <a:latin typeface="Arial"/>
                <a:ea typeface="Arial"/>
                <a:cs typeface="Arial"/>
              </a:rPr>
              <a:t>4</a:t>
            </a:r>
          </a:p>
        </p:txBody>
      </p:sp>
    </p:spTree>
    <p:extLst>
      <p:ext uri="{BB962C8B-B14F-4D97-AF65-F5344CB8AC3E}">
        <p14:creationId xmlns:p14="http://schemas.microsoft.com/office/powerpoint/2010/main" val="2052980271"/>
      </p:ext>
    </p:extLst>
  </p:cSld>
</p:sld>
</file>

<file path=ppt/slides/slide5.xml><?xml version="1.0" encoding="utf-8"?>
<p:sld xmlns:p="http://schemas.openxmlformats.org/presentationml/2006/main">
  <p:cSld>
    <p:bg>
      <p:bgPr>
        <a:solidFill xmlns:a="http://schemas.openxmlformats.org/drawingml/2006/main">
          <a:srgbClr val="2F6FED"/>
        </a:solidFill>
      </p:bgPr>
    </p:bg>
    <p:spTree>
      <p:nvGrpSpPr>
        <p:cNvPr id="1" name=""/>
        <p:cNvGrpSpPr/>
        <p:nvPr/>
      </p:nvGrpSpPr>
      <p:grpSpPr>
        <a:xfrm xmlns:a="http://schemas.openxmlformats.org/drawingml/2006/main"/>
      </p:grpSpPr>
      <p:sp>
        <p:nvSpPr>
          <p:cNvPr id="15" name="s5-eyebrow">
            <a:extLst xmlns:a="http://schemas.openxmlformats.org/drawingml/2006/main">
              <a:ext uri="{FF2B5EF4-FFF2-40B4-BE49-F238E27FC236}">
                <a16:creationId xmlns:a16="http://schemas.microsoft.com/office/drawing/2014/main" id="{BE5D0C9C-2E71-407D-8436-F7350FBA3637}"/>
              </a:ext>
            </a:extLst>
          </p:cNvPr>
          <p:cNvSpPr>
            <a:spLocks xmlns:a="http://schemas.openxmlformats.org/drawingml/2006/main" noGrp="1"/>
          </p:cNvSpPr>
          <p:nvPr/>
        </p:nvSpPr>
        <p:spPr>
          <a:xfrm xmlns:a="http://schemas.openxmlformats.org/drawingml/2006/main">
            <a:off x="933450" y="1762125"/>
            <a:ext cx="1337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a:solidFill>
                  <a:srgbClr val="CBD9FF"/>
                </a:solidFill>
                <a:latin typeface="Arial"/>
                <a:ea typeface="Arial"/>
                <a:cs typeface="Arial"/>
              </a:defRPr>
            </a:pPr>
            <a:r>
              <a:rPr sz="1350" b="1">
                <a:solidFill>
                  <a:srgbClr val="CBD9FF"/>
                </a:solidFill>
                <a:latin typeface="Arial"/>
                <a:ea typeface="Arial"/>
                <a:cs typeface="Arial"/>
              </a:rPr>
              <a:t>LIVE DEMONSTRATION</a:t>
            </a:r>
          </a:p>
        </p:txBody>
      </p:sp>
      <p:sp>
        <p:nvSpPr>
          <p:cNvPr id="2" name="s5-title">
            <a:extLst xmlns:a="http://schemas.openxmlformats.org/drawingml/2006/main">
              <a:ext uri="{FF2B5EF4-FFF2-40B4-BE49-F238E27FC236}">
                <a16:creationId xmlns:a16="http://schemas.microsoft.com/office/drawing/2014/main" id="{1E182A20-0CE1-4706-8693-0FDCF66ECA76}"/>
              </a:ext>
            </a:extLst>
          </p:cNvPr>
          <p:cNvSpPr>
            <a:spLocks xmlns:a="http://schemas.openxmlformats.org/drawingml/2006/main" noGrp="1"/>
          </p:cNvSpPr>
          <p:nvPr/>
        </p:nvSpPr>
        <p:spPr>
          <a:xfrm xmlns:a="http://schemas.openxmlformats.org/drawingml/2006/main">
            <a:off x="933450" y="2343150"/>
            <a:ext cx="1337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4950" b="1">
                <a:solidFill>
                  <a:srgbClr val="FFFFFF"/>
                </a:solidFill>
                <a:latin typeface="Arial"/>
                <a:ea typeface="Arial"/>
                <a:cs typeface="Arial"/>
              </a:defRPr>
            </a:pPr>
            <a:r>
              <a:rPr sz="4950" b="1">
                <a:solidFill>
                  <a:srgbClr val="FFFFFF"/>
                </a:solidFill>
                <a:latin typeface="Arial"/>
                <a:ea typeface="Arial"/>
                <a:cs typeface="Arial"/>
              </a:rPr>
              <a:t>Live demo: one command, two alerts</a:t>
            </a:r>
          </a:p>
        </p:txBody>
      </p:sp>
      <p:sp>
        <p:nvSpPr>
          <p:cNvPr id="3" name="s5-prompt">
            <a:extLst xmlns:a="http://schemas.openxmlformats.org/drawingml/2006/main">
              <a:ext uri="{FF2B5EF4-FFF2-40B4-BE49-F238E27FC236}">
                <a16:creationId xmlns:a16="http://schemas.microsoft.com/office/drawing/2014/main" id="{030B32A8-4344-4767-80E0-0ECFAE6D4FAA}"/>
              </a:ext>
            </a:extLst>
          </p:cNvPr>
          <p:cNvSpPr>
            <a:spLocks xmlns:a="http://schemas.openxmlformats.org/drawingml/2006/main" noGrp="1"/>
          </p:cNvSpPr>
          <p:nvPr/>
        </p:nvSpPr>
        <p:spPr>
          <a:xfrm xmlns:a="http://schemas.openxmlformats.org/drawingml/2006/main">
            <a:off x="2333625" y="3400425"/>
            <a:ext cx="1057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175" b="0">
                <a:solidFill>
                  <a:srgbClr val="DFE9FF"/>
                </a:solidFill>
                <a:latin typeface="Arial"/>
                <a:ea typeface="Arial"/>
                <a:cs typeface="Arial"/>
              </a:defRPr>
            </a:pPr>
            <a:r>
              <a:rPr sz="2175" b="0">
                <a:solidFill>
                  <a:srgbClr val="DFE9FF"/>
                </a:solidFill>
                <a:latin typeface="Arial"/>
                <a:ea typeface="Arial"/>
                <a:cs typeface="Arial"/>
              </a:rPr>
              <a:t>A deterministic replay proves crossing, suppression, rearming, and a second alert.</a:t>
            </a:r>
          </a:p>
        </p:txBody>
      </p:sp>
      <p:sp>
        <p:nvSpPr>
          <p:cNvPr id="4" name="s5-rule-1">
            <a:extLst xmlns:a="http://schemas.openxmlformats.org/drawingml/2006/main">
              <a:ext uri="{FF2B5EF4-FFF2-40B4-BE49-F238E27FC236}">
                <a16:creationId xmlns:a16="http://schemas.microsoft.com/office/drawing/2014/main" id="{73A8845F-9026-4785-84C4-E3D43F7AD0BE}"/>
              </a:ext>
            </a:extLst>
          </p:cNvPr>
          <p:cNvSpPr>
            <a:spLocks xmlns:a="http://schemas.openxmlformats.org/drawingml/2006/main" noGrp="1"/>
          </p:cNvSpPr>
          <p:nvPr/>
        </p:nvSpPr>
        <p:spPr>
          <a:xfrm xmlns:a="http://schemas.openxmlformats.org/drawingml/2006/main">
            <a:off x="1952625" y="4686300"/>
            <a:ext cx="3505200" cy="19050"/>
          </a:xfrm>
          <a:prstGeom xmlns:a="http://schemas.openxmlformats.org/drawingml/2006/main" prst="rect">
            <a:avLst/>
          </a:prstGeom>
          <a:solidFill xmlns:a="http://schemas.openxmlformats.org/drawingml/2006/main">
            <a:srgbClr val="9DBBFF"/>
          </a:solidFill>
          <a:ln xmlns:a="http://schemas.openxmlformats.org/drawingml/2006/main" w="0">
            <a:noFill/>
            <a:prstDash val="solid"/>
          </a:ln>
        </p:spPr>
      </p:sp>
      <p:sp>
        <p:nvSpPr>
          <p:cNvPr id="5" name="s5-head-1">
            <a:extLst xmlns:a="http://schemas.openxmlformats.org/drawingml/2006/main">
              <a:ext uri="{FF2B5EF4-FFF2-40B4-BE49-F238E27FC236}">
                <a16:creationId xmlns:a16="http://schemas.microsoft.com/office/drawing/2014/main" id="{B0A1D881-8EBC-4883-B35D-DF682A8A3D7C}"/>
              </a:ext>
            </a:extLst>
          </p:cNvPr>
          <p:cNvSpPr>
            <a:spLocks xmlns:a="http://schemas.openxmlformats.org/drawingml/2006/main" noGrp="1"/>
          </p:cNvSpPr>
          <p:nvPr/>
        </p:nvSpPr>
        <p:spPr>
          <a:xfrm xmlns:a="http://schemas.openxmlformats.org/drawingml/2006/main">
            <a:off x="1952625" y="49530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1 · Kafka replay</a:t>
            </a:r>
          </a:p>
        </p:txBody>
      </p:sp>
      <p:sp>
        <p:nvSpPr>
          <p:cNvPr id="6" name="s5-copy-1">
            <a:extLst xmlns:a="http://schemas.openxmlformats.org/drawingml/2006/main">
              <a:ext uri="{FF2B5EF4-FFF2-40B4-BE49-F238E27FC236}">
                <a16:creationId xmlns:a16="http://schemas.microsoft.com/office/drawing/2014/main" id="{DDBEB313-5D0E-4060-8D27-69FD18FBAABA}"/>
              </a:ext>
            </a:extLst>
          </p:cNvPr>
          <p:cNvSpPr>
            <a:spLocks xmlns:a="http://schemas.openxmlformats.org/drawingml/2006/main" noGrp="1"/>
          </p:cNvSpPr>
          <p:nvPr/>
        </p:nvSpPr>
        <p:spPr>
          <a:xfrm xmlns:a="http://schemas.openxmlformats.org/drawingml/2006/main">
            <a:off x="1952625" y="5448300"/>
            <a:ext cx="35052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a:solidFill>
                  <a:srgbClr val="DFE9FF"/>
                </a:solidFill>
                <a:latin typeface="Arial"/>
                <a:ea typeface="Arial"/>
                <a:cs typeface="Arial"/>
              </a:defRPr>
            </a:pPr>
            <a:r>
              <a:rPr sz="1500" b="0">
                <a:solidFill>
                  <a:srgbClr val="DFE9FF"/>
                </a:solidFill>
                <a:latin typeface="Arial"/>
                <a:ea typeface="Arial"/>
                <a:cs typeface="Arial"/>
              </a:rPr>
              <a:t>./run_demo.sh publishes 9 ordered events through local Kafka.</a:t>
            </a:r>
          </a:p>
        </p:txBody>
      </p:sp>
      <p:sp>
        <p:nvSpPr>
          <p:cNvPr id="7" name="s5-rule-2">
            <a:extLst xmlns:a="http://schemas.openxmlformats.org/drawingml/2006/main">
              <a:ext uri="{FF2B5EF4-FFF2-40B4-BE49-F238E27FC236}">
                <a16:creationId xmlns:a16="http://schemas.microsoft.com/office/drawing/2014/main" id="{769EF7E6-83B7-44CA-A0D4-340476201B8F}"/>
              </a:ext>
            </a:extLst>
          </p:cNvPr>
          <p:cNvSpPr>
            <a:spLocks xmlns:a="http://schemas.openxmlformats.org/drawingml/2006/main" noGrp="1"/>
          </p:cNvSpPr>
          <p:nvPr/>
        </p:nvSpPr>
        <p:spPr>
          <a:xfrm xmlns:a="http://schemas.openxmlformats.org/drawingml/2006/main">
            <a:off x="5867400" y="4686300"/>
            <a:ext cx="3505200" cy="19050"/>
          </a:xfrm>
          <a:prstGeom xmlns:a="http://schemas.openxmlformats.org/drawingml/2006/main" prst="rect">
            <a:avLst/>
          </a:prstGeom>
          <a:solidFill xmlns:a="http://schemas.openxmlformats.org/drawingml/2006/main">
            <a:srgbClr val="9DBBFF"/>
          </a:solidFill>
          <a:ln xmlns:a="http://schemas.openxmlformats.org/drawingml/2006/main" w="0">
            <a:noFill/>
            <a:prstDash val="solid"/>
          </a:ln>
        </p:spPr>
      </p:sp>
      <p:sp>
        <p:nvSpPr>
          <p:cNvPr id="8" name="s5-head-2">
            <a:extLst xmlns:a="http://schemas.openxmlformats.org/drawingml/2006/main">
              <a:ext uri="{FF2B5EF4-FFF2-40B4-BE49-F238E27FC236}">
                <a16:creationId xmlns:a16="http://schemas.microsoft.com/office/drawing/2014/main" id="{7702C7E6-B7C9-44E8-AF8E-B36C24584CE1}"/>
              </a:ext>
            </a:extLst>
          </p:cNvPr>
          <p:cNvSpPr>
            <a:spLocks xmlns:a="http://schemas.openxmlformats.org/drawingml/2006/main" noGrp="1"/>
          </p:cNvSpPr>
          <p:nvPr/>
        </p:nvSpPr>
        <p:spPr>
          <a:xfrm xmlns:a="http://schemas.openxmlformats.org/drawingml/2006/main">
            <a:off x="5867400" y="49530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2 · Two crossings</a:t>
            </a:r>
          </a:p>
        </p:txBody>
      </p:sp>
      <p:sp>
        <p:nvSpPr>
          <p:cNvPr id="9" name="s5-copy-2">
            <a:extLst xmlns:a="http://schemas.openxmlformats.org/drawingml/2006/main">
              <a:ext uri="{FF2B5EF4-FFF2-40B4-BE49-F238E27FC236}">
                <a16:creationId xmlns:a16="http://schemas.microsoft.com/office/drawing/2014/main" id="{0814C667-F4AF-4AAE-A4EA-2C8B6573ACE2}"/>
              </a:ext>
            </a:extLst>
          </p:cNvPr>
          <p:cNvSpPr>
            <a:spLocks xmlns:a="http://schemas.openxmlformats.org/drawingml/2006/main" noGrp="1"/>
          </p:cNvSpPr>
          <p:nvPr/>
        </p:nvSpPr>
        <p:spPr>
          <a:xfrm xmlns:a="http://schemas.openxmlformats.org/drawingml/2006/main">
            <a:off x="5867400" y="5448300"/>
            <a:ext cx="35052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a:solidFill>
                  <a:srgbClr val="DFE9FF"/>
                </a:solidFill>
                <a:latin typeface="Arial"/>
                <a:ea typeface="Arial"/>
                <a:cs typeface="Arial"/>
              </a:defRPr>
            </a:pPr>
            <a:r>
              <a:rPr sz="1500" b="0">
                <a:solidFill>
                  <a:srgbClr val="DFE9FF"/>
                </a:solidFill>
                <a:latin typeface="Arial"/>
                <a:ea typeface="Arial"/>
                <a:cs typeface="Arial"/>
              </a:rPr>
              <a:t>1 duplicate is skipped; the monitor rearms and emits exactly 2 alerts.</a:t>
            </a:r>
          </a:p>
        </p:txBody>
      </p:sp>
      <p:sp>
        <p:nvSpPr>
          <p:cNvPr id="10" name="s5-rule-3">
            <a:extLst xmlns:a="http://schemas.openxmlformats.org/drawingml/2006/main">
              <a:ext uri="{FF2B5EF4-FFF2-40B4-BE49-F238E27FC236}">
                <a16:creationId xmlns:a16="http://schemas.microsoft.com/office/drawing/2014/main" id="{610DFC85-369E-42FE-924C-44EB00ABDDF2}"/>
              </a:ext>
            </a:extLst>
          </p:cNvPr>
          <p:cNvSpPr>
            <a:spLocks xmlns:a="http://schemas.openxmlformats.org/drawingml/2006/main" noGrp="1"/>
          </p:cNvSpPr>
          <p:nvPr/>
        </p:nvSpPr>
        <p:spPr>
          <a:xfrm xmlns:a="http://schemas.openxmlformats.org/drawingml/2006/main">
            <a:off x="9782175" y="4686300"/>
            <a:ext cx="3505200" cy="19050"/>
          </a:xfrm>
          <a:prstGeom xmlns:a="http://schemas.openxmlformats.org/drawingml/2006/main" prst="rect">
            <a:avLst/>
          </a:prstGeom>
          <a:solidFill xmlns:a="http://schemas.openxmlformats.org/drawingml/2006/main">
            <a:srgbClr val="9DBBFF"/>
          </a:solidFill>
          <a:ln xmlns:a="http://schemas.openxmlformats.org/drawingml/2006/main" w="0">
            <a:noFill/>
            <a:prstDash val="solid"/>
          </a:ln>
        </p:spPr>
      </p:sp>
      <p:sp>
        <p:nvSpPr>
          <p:cNvPr id="11" name="s5-head-3">
            <a:extLst xmlns:a="http://schemas.openxmlformats.org/drawingml/2006/main">
              <a:ext uri="{FF2B5EF4-FFF2-40B4-BE49-F238E27FC236}">
                <a16:creationId xmlns:a16="http://schemas.microsoft.com/office/drawing/2014/main" id="{7EE29B0E-1524-4154-BD44-BA0B09A93AB4}"/>
              </a:ext>
            </a:extLst>
          </p:cNvPr>
          <p:cNvSpPr>
            <a:spLocks xmlns:a="http://schemas.openxmlformats.org/drawingml/2006/main" noGrp="1"/>
          </p:cNvSpPr>
          <p:nvPr/>
        </p:nvSpPr>
        <p:spPr>
          <a:xfrm xmlns:a="http://schemas.openxmlformats.org/drawingml/2006/main">
            <a:off x="9782175" y="4953000"/>
            <a:ext cx="350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3 · Evidence UI</a:t>
            </a:r>
          </a:p>
        </p:txBody>
      </p:sp>
      <p:sp>
        <p:nvSpPr>
          <p:cNvPr id="12" name="s5-copy-3">
            <a:extLst xmlns:a="http://schemas.openxmlformats.org/drawingml/2006/main">
              <a:ext uri="{FF2B5EF4-FFF2-40B4-BE49-F238E27FC236}">
                <a16:creationId xmlns:a16="http://schemas.microsoft.com/office/drawing/2014/main" id="{84146111-17F7-40A8-A8DF-1CE10FD789B1}"/>
              </a:ext>
            </a:extLst>
          </p:cNvPr>
          <p:cNvSpPr>
            <a:spLocks xmlns:a="http://schemas.openxmlformats.org/drawingml/2006/main" noGrp="1"/>
          </p:cNvSpPr>
          <p:nvPr/>
        </p:nvSpPr>
        <p:spPr>
          <a:xfrm xmlns:a="http://schemas.openxmlformats.org/drawingml/2006/main">
            <a:off x="9782175" y="5448300"/>
            <a:ext cx="35052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a:solidFill>
                  <a:srgbClr val="DFE9FF"/>
                </a:solidFill>
                <a:latin typeface="Arial"/>
                <a:ea typeface="Arial"/>
                <a:cs typeface="Arial"/>
              </a:defRPr>
            </a:pPr>
            <a:r>
              <a:rPr sz="1500" b="0">
                <a:solidFill>
                  <a:srgbClr val="DFE9FF"/>
                </a:solidFill>
                <a:latin typeface="Arial"/>
                <a:ea typeface="Arial"/>
                <a:cs typeface="Arial"/>
              </a:rPr>
              <a:t>Trace alert #1, the metrics, and the bounded natural-language briefing.</a:t>
            </a:r>
          </a:p>
        </p:txBody>
      </p:sp>
      <p:sp>
        <p:nvSpPr>
          <p:cNvPr id="13" name="footer-5-label">
            <a:extLst xmlns:a="http://schemas.openxmlformats.org/drawingml/2006/main">
              <a:ext uri="{FF2B5EF4-FFF2-40B4-BE49-F238E27FC236}">
                <a16:creationId xmlns:a16="http://schemas.microsoft.com/office/drawing/2014/main" id="{D7C8FFB1-79CC-444F-A404-3C673B61D7D4}"/>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9DB2C5"/>
                </a:solidFill>
                <a:latin typeface="Arial"/>
                <a:ea typeface="Arial"/>
                <a:cs typeface="Arial"/>
              </a:defRPr>
            </a:pPr>
            <a:r>
              <a:rPr sz="1125" b="0">
                <a:solidFill>
                  <a:srgbClr val="9DB2C5"/>
                </a:solidFill>
                <a:latin typeface="Arial"/>
                <a:ea typeface="Arial"/>
                <a:cs typeface="Arial"/>
              </a:rPr>
              <a:t>Replay → Kafka → consumer → evidence UI</a:t>
            </a:r>
          </a:p>
        </p:txBody>
      </p:sp>
      <p:sp>
        <p:nvSpPr>
          <p:cNvPr id="14" name="footer-5-number">
            <a:extLst xmlns:a="http://schemas.openxmlformats.org/drawingml/2006/main">
              <a:ext uri="{FF2B5EF4-FFF2-40B4-BE49-F238E27FC236}">
                <a16:creationId xmlns:a16="http://schemas.microsoft.com/office/drawing/2014/main" id="{06D941A1-FC4C-4BEE-92DF-C5AD9F42F604}"/>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9DB2C5"/>
                </a:solidFill>
                <a:latin typeface="Arial"/>
                <a:ea typeface="Arial"/>
                <a:cs typeface="Arial"/>
              </a:defRPr>
            </a:pPr>
            <a:r>
              <a:rPr sz="1125" b="0">
                <a:solidFill>
                  <a:srgbClr val="9DB2C5"/>
                </a:solidFill>
                <a:latin typeface="Arial"/>
                <a:ea typeface="Arial"/>
                <a:cs typeface="Arial"/>
              </a:rPr>
              <a:t>5</a:t>
            </a:r>
          </a:p>
        </p:txBody>
      </p:sp>
    </p:spTree>
    <p:extLst>
      <p:ext uri="{BB962C8B-B14F-4D97-AF65-F5344CB8AC3E}">
        <p14:creationId xmlns:p14="http://schemas.microsoft.com/office/powerpoint/2010/main" val="226471351"/>
      </p:ext>
    </p:extLst>
  </p:cSld>
</p:sld>
</file>

<file path=ppt/slides/slide6.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22" name="eyebrow-Evidence and bound">
            <a:extLst xmlns:a="http://schemas.openxmlformats.org/drawingml/2006/main">
              <a:ext uri="{FF2B5EF4-FFF2-40B4-BE49-F238E27FC236}">
                <a16:creationId xmlns:a16="http://schemas.microsoft.com/office/drawing/2014/main" id="{0C2BCD9D-2724-4E15-BFEF-8162F38E1958}"/>
              </a:ext>
            </a:extLst>
          </p:cNvPr>
          <p:cNvSpPr>
            <a:spLocks xmlns:a="http://schemas.openxmlformats.org/drawingml/2006/main" noGrp="1"/>
          </p:cNvSpPr>
          <p:nvPr/>
        </p:nvSpPr>
        <p:spPr>
          <a:xfrm xmlns:a="http://schemas.openxmlformats.org/drawingml/2006/main">
            <a:off x="933450" y="457200"/>
            <a:ext cx="904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2F6FED"/>
                </a:solidFill>
                <a:latin typeface="Arial"/>
                <a:ea typeface="Arial"/>
                <a:cs typeface="Arial"/>
              </a:defRPr>
            </a:pPr>
            <a:r>
              <a:rPr sz="1275" b="1">
                <a:solidFill>
                  <a:srgbClr val="2F6FED"/>
                </a:solidFill>
                <a:latin typeface="Arial"/>
                <a:ea typeface="Arial"/>
                <a:cs typeface="Arial"/>
              </a:rPr>
              <a:t>EVIDENCE AND BOUNDED AI</a:t>
            </a:r>
          </a:p>
        </p:txBody>
      </p:sp>
      <p:sp>
        <p:nvSpPr>
          <p:cNvPr id="2" name="title-The alert path is ">
            <a:extLst xmlns:a="http://schemas.openxmlformats.org/drawingml/2006/main">
              <a:ext uri="{FF2B5EF4-FFF2-40B4-BE49-F238E27FC236}">
                <a16:creationId xmlns:a16="http://schemas.microsoft.com/office/drawing/2014/main" id="{509DDEEB-7061-42C1-AEF7-EFDCE68E64C2}"/>
              </a:ext>
            </a:extLst>
          </p:cNvPr>
          <p:cNvSpPr>
            <a:spLocks xmlns:a="http://schemas.openxmlformats.org/drawingml/2006/main" noGrp="1"/>
          </p:cNvSpPr>
          <p:nvPr/>
        </p:nvSpPr>
        <p:spPr>
          <a:xfrm xmlns:a="http://schemas.openxmlformats.org/drawingml/2006/main">
            <a:off x="933450" y="838200"/>
            <a:ext cx="133731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3675" b="1">
                <a:solidFill>
                  <a:srgbClr val="102A43"/>
                </a:solidFill>
                <a:latin typeface="Arial"/>
                <a:ea typeface="Arial"/>
                <a:cs typeface="Arial"/>
              </a:defRPr>
            </a:pPr>
            <a:r>
              <a:rPr sz="3675" b="1">
                <a:solidFill>
                  <a:srgbClr val="102A43"/>
                </a:solidFill>
                <a:latin typeface="Arial"/>
                <a:ea typeface="Arial"/>
                <a:cs typeface="Arial"/>
              </a:rPr>
              <a:t>The alert path is deterministic; AI only explains the result</a:t>
            </a:r>
          </a:p>
        </p:txBody>
      </p:sp>
      <p:sp>
        <p:nvSpPr>
          <p:cNvPr id="3" name="s6-result-rule-1">
            <a:extLst xmlns:a="http://schemas.openxmlformats.org/drawingml/2006/main">
              <a:ext uri="{FF2B5EF4-FFF2-40B4-BE49-F238E27FC236}">
                <a16:creationId xmlns:a16="http://schemas.microsoft.com/office/drawing/2014/main" id="{48FAEC79-660E-4A7A-90CF-89943438B2EB}"/>
              </a:ext>
            </a:extLst>
          </p:cNvPr>
          <p:cNvSpPr>
            <a:spLocks xmlns:a="http://schemas.openxmlformats.org/drawingml/2006/main" noGrp="1"/>
          </p:cNvSpPr>
          <p:nvPr/>
        </p:nvSpPr>
        <p:spPr>
          <a:xfrm xmlns:a="http://schemas.openxmlformats.org/drawingml/2006/main">
            <a:off x="933450" y="2038350"/>
            <a:ext cx="3829050" cy="47625"/>
          </a:xfrm>
          <a:prstGeom xmlns:a="http://schemas.openxmlformats.org/drawingml/2006/main" prst="rect">
            <a:avLst/>
          </a:prstGeom>
          <a:solidFill xmlns:a="http://schemas.openxmlformats.org/drawingml/2006/main">
            <a:srgbClr val="2F6FED"/>
          </a:solidFill>
          <a:ln xmlns:a="http://schemas.openxmlformats.org/drawingml/2006/main" w="0">
            <a:noFill/>
            <a:prstDash val="solid"/>
          </a:ln>
        </p:spPr>
      </p:sp>
      <p:sp>
        <p:nvSpPr>
          <p:cNvPr id="4" name="s6-result-number-1">
            <a:extLst xmlns:a="http://schemas.openxmlformats.org/drawingml/2006/main">
              <a:ext uri="{FF2B5EF4-FFF2-40B4-BE49-F238E27FC236}">
                <a16:creationId xmlns:a16="http://schemas.microsoft.com/office/drawing/2014/main" id="{410CAF2D-FB86-48EA-9DD8-DB19C2985484}"/>
              </a:ext>
            </a:extLst>
          </p:cNvPr>
          <p:cNvSpPr>
            <a:spLocks xmlns:a="http://schemas.openxmlformats.org/drawingml/2006/main" noGrp="1"/>
          </p:cNvSpPr>
          <p:nvPr/>
        </p:nvSpPr>
        <p:spPr>
          <a:xfrm xmlns:a="http://schemas.openxmlformats.org/drawingml/2006/main">
            <a:off x="933450" y="2286000"/>
            <a:ext cx="3829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050" b="1">
                <a:solidFill>
                  <a:srgbClr val="102A43"/>
                </a:solidFill>
                <a:latin typeface="Arial"/>
                <a:ea typeface="Arial"/>
                <a:cs typeface="Arial"/>
              </a:defRPr>
            </a:pPr>
            <a:r>
              <a:rPr sz="4050" b="1">
                <a:solidFill>
                  <a:srgbClr val="102A43"/>
                </a:solidFill>
                <a:latin typeface="Arial"/>
                <a:ea typeface="Arial"/>
                <a:cs typeface="Arial"/>
              </a:rPr>
              <a:t>9</a:t>
            </a:r>
          </a:p>
        </p:txBody>
      </p:sp>
      <p:sp>
        <p:nvSpPr>
          <p:cNvPr id="5" name="s6-result-copy-1">
            <a:extLst xmlns:a="http://schemas.openxmlformats.org/drawingml/2006/main">
              <a:ext uri="{FF2B5EF4-FFF2-40B4-BE49-F238E27FC236}">
                <a16:creationId xmlns:a16="http://schemas.microsoft.com/office/drawing/2014/main" id="{A32DDC0D-9131-40F6-B7B3-ECACC8CF00C7}"/>
              </a:ext>
            </a:extLst>
          </p:cNvPr>
          <p:cNvSpPr>
            <a:spLocks xmlns:a="http://schemas.openxmlformats.org/drawingml/2006/main" noGrp="1"/>
          </p:cNvSpPr>
          <p:nvPr/>
        </p:nvSpPr>
        <p:spPr>
          <a:xfrm xmlns:a="http://schemas.openxmlformats.org/drawingml/2006/main">
            <a:off x="933450" y="3000375"/>
            <a:ext cx="38290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a:solidFill>
                  <a:srgbClr val="617080"/>
                </a:solidFill>
                <a:latin typeface="Arial"/>
                <a:ea typeface="Arial"/>
                <a:cs typeface="Arial"/>
              </a:defRPr>
            </a:pPr>
            <a:r>
              <a:rPr sz="1500" b="0">
                <a:solidFill>
                  <a:srgbClr val="617080"/>
                </a:solidFill>
                <a:latin typeface="Arial"/>
                <a:ea typeface="Arial"/>
                <a:cs typeface="Arial"/>
              </a:rPr>
              <a:t>Kafka messages processed, including one deliberate duplicate.</a:t>
            </a:r>
          </a:p>
        </p:txBody>
      </p:sp>
      <p:sp>
        <p:nvSpPr>
          <p:cNvPr id="6" name="s6-result-rule-2">
            <a:extLst xmlns:a="http://schemas.openxmlformats.org/drawingml/2006/main">
              <a:ext uri="{FF2B5EF4-FFF2-40B4-BE49-F238E27FC236}">
                <a16:creationId xmlns:a16="http://schemas.microsoft.com/office/drawing/2014/main" id="{90C67C17-1059-4F2A-BE9A-DA12BCA8A412}"/>
              </a:ext>
            </a:extLst>
          </p:cNvPr>
          <p:cNvSpPr>
            <a:spLocks xmlns:a="http://schemas.openxmlformats.org/drawingml/2006/main" noGrp="1"/>
          </p:cNvSpPr>
          <p:nvPr/>
        </p:nvSpPr>
        <p:spPr>
          <a:xfrm xmlns:a="http://schemas.openxmlformats.org/drawingml/2006/main">
            <a:off x="5514975" y="2038350"/>
            <a:ext cx="3829050" cy="47625"/>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7" name="s6-result-number-2">
            <a:extLst xmlns:a="http://schemas.openxmlformats.org/drawingml/2006/main">
              <a:ext uri="{FF2B5EF4-FFF2-40B4-BE49-F238E27FC236}">
                <a16:creationId xmlns:a16="http://schemas.microsoft.com/office/drawing/2014/main" id="{75E97752-9599-477B-A3FD-E472113D1A24}"/>
              </a:ext>
            </a:extLst>
          </p:cNvPr>
          <p:cNvSpPr>
            <a:spLocks xmlns:a="http://schemas.openxmlformats.org/drawingml/2006/main" noGrp="1"/>
          </p:cNvSpPr>
          <p:nvPr/>
        </p:nvSpPr>
        <p:spPr>
          <a:xfrm xmlns:a="http://schemas.openxmlformats.org/drawingml/2006/main">
            <a:off x="5514975" y="2286000"/>
            <a:ext cx="3829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050" b="1">
                <a:solidFill>
                  <a:srgbClr val="102A43"/>
                </a:solidFill>
                <a:latin typeface="Arial"/>
                <a:ea typeface="Arial"/>
                <a:cs typeface="Arial"/>
              </a:defRPr>
            </a:pPr>
            <a:r>
              <a:rPr sz="4050" b="1">
                <a:solidFill>
                  <a:srgbClr val="102A43"/>
                </a:solidFill>
                <a:latin typeface="Arial"/>
                <a:ea typeface="Arial"/>
                <a:cs typeface="Arial"/>
              </a:rPr>
              <a:t>2</a:t>
            </a:r>
          </a:p>
        </p:txBody>
      </p:sp>
      <p:sp>
        <p:nvSpPr>
          <p:cNvPr id="8" name="s6-result-copy-2">
            <a:extLst xmlns:a="http://schemas.openxmlformats.org/drawingml/2006/main">
              <a:ext uri="{FF2B5EF4-FFF2-40B4-BE49-F238E27FC236}">
                <a16:creationId xmlns:a16="http://schemas.microsoft.com/office/drawing/2014/main" id="{A98D6243-0CF9-490E-A198-72EDEA8B215A}"/>
              </a:ext>
            </a:extLst>
          </p:cNvPr>
          <p:cNvSpPr>
            <a:spLocks xmlns:a="http://schemas.openxmlformats.org/drawingml/2006/main" noGrp="1"/>
          </p:cNvSpPr>
          <p:nvPr/>
        </p:nvSpPr>
        <p:spPr>
          <a:xfrm xmlns:a="http://schemas.openxmlformats.org/drawingml/2006/main">
            <a:off x="5514975" y="3000375"/>
            <a:ext cx="38290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a:solidFill>
                  <a:srgbClr val="617080"/>
                </a:solidFill>
                <a:latin typeface="Arial"/>
                <a:ea typeface="Arial"/>
                <a:cs typeface="Arial"/>
              </a:defRPr>
            </a:pPr>
            <a:r>
              <a:rPr sz="1500" b="0">
                <a:solidFill>
                  <a:srgbClr val="617080"/>
                </a:solidFill>
                <a:latin typeface="Arial"/>
                <a:ea typeface="Arial"/>
                <a:cs typeface="Arial"/>
              </a:rPr>
              <a:t>Expected threshold-crossing alerts, with no alert spam.</a:t>
            </a:r>
          </a:p>
        </p:txBody>
      </p:sp>
      <p:sp>
        <p:nvSpPr>
          <p:cNvPr id="9" name="s6-result-rule-3">
            <a:extLst xmlns:a="http://schemas.openxmlformats.org/drawingml/2006/main">
              <a:ext uri="{FF2B5EF4-FFF2-40B4-BE49-F238E27FC236}">
                <a16:creationId xmlns:a16="http://schemas.microsoft.com/office/drawing/2014/main" id="{AD46C0BF-8C5A-4590-986D-6486EC41B5C6}"/>
              </a:ext>
            </a:extLst>
          </p:cNvPr>
          <p:cNvSpPr>
            <a:spLocks xmlns:a="http://schemas.openxmlformats.org/drawingml/2006/main" noGrp="1"/>
          </p:cNvSpPr>
          <p:nvPr/>
        </p:nvSpPr>
        <p:spPr>
          <a:xfrm xmlns:a="http://schemas.openxmlformats.org/drawingml/2006/main">
            <a:off x="10096500" y="2038350"/>
            <a:ext cx="3829050" cy="47625"/>
          </a:xfrm>
          <a:prstGeom xmlns:a="http://schemas.openxmlformats.org/drawingml/2006/main" prst="rect">
            <a:avLst/>
          </a:prstGeom>
          <a:solidFill xmlns:a="http://schemas.openxmlformats.org/drawingml/2006/main">
            <a:srgbClr val="2A9D67"/>
          </a:solidFill>
          <a:ln xmlns:a="http://schemas.openxmlformats.org/drawingml/2006/main" w="0">
            <a:noFill/>
            <a:prstDash val="solid"/>
          </a:ln>
        </p:spPr>
      </p:sp>
      <p:sp>
        <p:nvSpPr>
          <p:cNvPr id="10" name="s6-result-number-3">
            <a:extLst xmlns:a="http://schemas.openxmlformats.org/drawingml/2006/main">
              <a:ext uri="{FF2B5EF4-FFF2-40B4-BE49-F238E27FC236}">
                <a16:creationId xmlns:a16="http://schemas.microsoft.com/office/drawing/2014/main" id="{9681FBF0-3C2B-47EB-8EFF-954C9D4E5DC1}"/>
              </a:ext>
            </a:extLst>
          </p:cNvPr>
          <p:cNvSpPr>
            <a:spLocks xmlns:a="http://schemas.openxmlformats.org/drawingml/2006/main" noGrp="1"/>
          </p:cNvSpPr>
          <p:nvPr/>
        </p:nvSpPr>
        <p:spPr>
          <a:xfrm xmlns:a="http://schemas.openxmlformats.org/drawingml/2006/main">
            <a:off x="10096500" y="2286000"/>
            <a:ext cx="3829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050" b="1">
                <a:solidFill>
                  <a:srgbClr val="102A43"/>
                </a:solidFill>
                <a:latin typeface="Arial"/>
                <a:ea typeface="Arial"/>
                <a:cs typeface="Arial"/>
              </a:defRPr>
            </a:pPr>
            <a:r>
              <a:rPr sz="4050" b="1">
                <a:solidFill>
                  <a:srgbClr val="102A43"/>
                </a:solidFill>
                <a:latin typeface="Arial"/>
                <a:ea typeface="Arial"/>
                <a:cs typeface="Arial"/>
              </a:rPr>
              <a:t>7/7</a:t>
            </a:r>
          </a:p>
        </p:txBody>
      </p:sp>
      <p:sp>
        <p:nvSpPr>
          <p:cNvPr id="11" name="s6-result-copy-3">
            <a:extLst xmlns:a="http://schemas.openxmlformats.org/drawingml/2006/main">
              <a:ext uri="{FF2B5EF4-FFF2-40B4-BE49-F238E27FC236}">
                <a16:creationId xmlns:a16="http://schemas.microsoft.com/office/drawing/2014/main" id="{A3EDE18E-A262-4B5E-A4EF-E2786AC8E67D}"/>
              </a:ext>
            </a:extLst>
          </p:cNvPr>
          <p:cNvSpPr>
            <a:spLocks xmlns:a="http://schemas.openxmlformats.org/drawingml/2006/main" noGrp="1"/>
          </p:cNvSpPr>
          <p:nvPr/>
        </p:nvSpPr>
        <p:spPr>
          <a:xfrm xmlns:a="http://schemas.openxmlformats.org/drawingml/2006/main">
            <a:off x="10096500" y="3000375"/>
            <a:ext cx="38290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00" b="0">
                <a:solidFill>
                  <a:srgbClr val="617080"/>
                </a:solidFill>
                <a:latin typeface="Arial"/>
                <a:ea typeface="Arial"/>
                <a:cs typeface="Arial"/>
              </a:defRPr>
            </a:pPr>
            <a:r>
              <a:rPr sz="1500" b="0">
                <a:solidFill>
                  <a:srgbClr val="617080"/>
                </a:solidFill>
                <a:latin typeface="Arial"/>
                <a:ea typeface="Arial"/>
                <a:cs typeface="Arial"/>
              </a:rPr>
              <a:t>Evaluation assertions passed for alerts and AI briefing cases.</a:t>
            </a:r>
          </a:p>
        </p:txBody>
      </p:sp>
      <p:sp>
        <p:nvSpPr>
          <p:cNvPr id="12" name="s6-left-rule">
            <a:extLst xmlns:a="http://schemas.openxmlformats.org/drawingml/2006/main">
              <a:ext uri="{FF2B5EF4-FFF2-40B4-BE49-F238E27FC236}">
                <a16:creationId xmlns:a16="http://schemas.microsoft.com/office/drawing/2014/main" id="{C5D33A46-9C1B-4355-BEF5-F737BEC7B527}"/>
              </a:ext>
            </a:extLst>
          </p:cNvPr>
          <p:cNvSpPr>
            <a:spLocks xmlns:a="http://schemas.openxmlformats.org/drawingml/2006/main" noGrp="1"/>
          </p:cNvSpPr>
          <p:nvPr/>
        </p:nvSpPr>
        <p:spPr>
          <a:xfrm xmlns:a="http://schemas.openxmlformats.org/drawingml/2006/main">
            <a:off x="933450" y="4429125"/>
            <a:ext cx="5753100" cy="57150"/>
          </a:xfrm>
          <a:prstGeom xmlns:a="http://schemas.openxmlformats.org/drawingml/2006/main" prst="rect">
            <a:avLst/>
          </a:prstGeom>
          <a:solidFill xmlns:a="http://schemas.openxmlformats.org/drawingml/2006/main">
            <a:srgbClr val="2A9D67"/>
          </a:solidFill>
          <a:ln xmlns:a="http://schemas.openxmlformats.org/drawingml/2006/main" w="0">
            <a:noFill/>
            <a:prstDash val="solid"/>
          </a:ln>
        </p:spPr>
      </p:sp>
      <p:sp>
        <p:nvSpPr>
          <p:cNvPr id="13" name="s6-left-heading">
            <a:extLst xmlns:a="http://schemas.openxmlformats.org/drawingml/2006/main">
              <a:ext uri="{FF2B5EF4-FFF2-40B4-BE49-F238E27FC236}">
                <a16:creationId xmlns:a16="http://schemas.microsoft.com/office/drawing/2014/main" id="{2A0CCCA1-83F8-4C10-AE80-0DF1C40C9C3C}"/>
              </a:ext>
            </a:extLst>
          </p:cNvPr>
          <p:cNvSpPr>
            <a:spLocks xmlns:a="http://schemas.openxmlformats.org/drawingml/2006/main" noGrp="1"/>
          </p:cNvSpPr>
          <p:nvPr/>
        </p:nvSpPr>
        <p:spPr>
          <a:xfrm xmlns:a="http://schemas.openxmlformats.org/drawingml/2006/main">
            <a:off x="1238250" y="4762500"/>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102A43"/>
                </a:solidFill>
                <a:latin typeface="Arial"/>
                <a:ea typeface="Arial"/>
                <a:cs typeface="Arial"/>
              </a:defRPr>
            </a:pPr>
            <a:r>
              <a:rPr sz="1950" b="1">
                <a:solidFill>
                  <a:srgbClr val="102A43"/>
                </a:solidFill>
                <a:latin typeface="Arial"/>
                <a:ea typeface="Arial"/>
                <a:cs typeface="Arial"/>
              </a:rPr>
              <a:t>Deterministic code creates the alert</a:t>
            </a:r>
          </a:p>
        </p:txBody>
      </p:sp>
      <p:sp>
        <p:nvSpPr>
          <p:cNvPr id="14" name="s6-left-copy">
            <a:extLst xmlns:a="http://schemas.openxmlformats.org/drawingml/2006/main">
              <a:ext uri="{FF2B5EF4-FFF2-40B4-BE49-F238E27FC236}">
                <a16:creationId xmlns:a16="http://schemas.microsoft.com/office/drawing/2014/main" id="{F23796CE-28B9-4C0A-BA02-5B8AD8E2C4A8}"/>
              </a:ext>
            </a:extLst>
          </p:cNvPr>
          <p:cNvSpPr>
            <a:spLocks xmlns:a="http://schemas.openxmlformats.org/drawingml/2006/main" noGrp="1"/>
          </p:cNvSpPr>
          <p:nvPr/>
        </p:nvSpPr>
        <p:spPr>
          <a:xfrm xmlns:a="http://schemas.openxmlformats.org/drawingml/2006/main">
            <a:off x="1238250" y="5257800"/>
            <a:ext cx="514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75" b="0">
                <a:solidFill>
                  <a:srgbClr val="617080"/>
                </a:solidFill>
                <a:latin typeface="Arial"/>
                <a:ea typeface="Arial"/>
                <a:cs typeface="Arial"/>
              </a:defRPr>
            </a:pPr>
            <a:r>
              <a:rPr sz="1575" b="0">
                <a:solidFill>
                  <a:srgbClr val="617080"/>
                </a:solidFill>
                <a:latin typeface="Arial"/>
                <a:ea typeface="Arial"/>
                <a:cs typeface="Arial"/>
              </a:rPr>
              <a:t>Validate events → calculate rolling maximum → detect threshold crossing → assign risk label.</a:t>
            </a:r>
          </a:p>
        </p:txBody>
      </p:sp>
      <p:sp>
        <p:nvSpPr>
          <p:cNvPr id="15" name="s6-boundary-arrow">
            <a:extLst xmlns:a="http://schemas.openxmlformats.org/drawingml/2006/main">
              <a:ext uri="{FF2B5EF4-FFF2-40B4-BE49-F238E27FC236}">
                <a16:creationId xmlns:a16="http://schemas.microsoft.com/office/drawing/2014/main" id="{6E7477B7-9D07-4475-86DA-F6D233FCC2C4}"/>
              </a:ext>
            </a:extLst>
          </p:cNvPr>
          <p:cNvSpPr>
            <a:spLocks xmlns:a="http://schemas.openxmlformats.org/drawingml/2006/main" noGrp="1"/>
          </p:cNvSpPr>
          <p:nvPr/>
        </p:nvSpPr>
        <p:spPr>
          <a:xfrm xmlns:a="http://schemas.openxmlformats.org/drawingml/2006/main">
            <a:off x="7191375" y="5095875"/>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3225" b="1">
                <a:solidFill>
                  <a:srgbClr val="2F6FED"/>
                </a:solidFill>
                <a:latin typeface="Arial"/>
                <a:ea typeface="Arial"/>
                <a:cs typeface="Arial"/>
              </a:defRPr>
            </a:pPr>
            <a:r>
              <a:rPr sz="3225" b="1">
                <a:solidFill>
                  <a:srgbClr val="2F6FED"/>
                </a:solidFill>
                <a:latin typeface="Arial"/>
                <a:ea typeface="Arial"/>
                <a:cs typeface="Arial"/>
              </a:rPr>
              <a:t>→</a:t>
            </a:r>
          </a:p>
        </p:txBody>
      </p:sp>
      <p:sp>
        <p:nvSpPr>
          <p:cNvPr id="16" name="s6-right-rule">
            <a:extLst xmlns:a="http://schemas.openxmlformats.org/drawingml/2006/main">
              <a:ext uri="{FF2B5EF4-FFF2-40B4-BE49-F238E27FC236}">
                <a16:creationId xmlns:a16="http://schemas.microsoft.com/office/drawing/2014/main" id="{C52AC69F-0921-4DAD-B86D-030849BA7382}"/>
              </a:ext>
            </a:extLst>
          </p:cNvPr>
          <p:cNvSpPr>
            <a:spLocks xmlns:a="http://schemas.openxmlformats.org/drawingml/2006/main" noGrp="1"/>
          </p:cNvSpPr>
          <p:nvPr/>
        </p:nvSpPr>
        <p:spPr>
          <a:xfrm xmlns:a="http://schemas.openxmlformats.org/drawingml/2006/main">
            <a:off x="8553450" y="4429125"/>
            <a:ext cx="5753100" cy="571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7" name="s6-right-heading">
            <a:extLst xmlns:a="http://schemas.openxmlformats.org/drawingml/2006/main">
              <a:ext uri="{FF2B5EF4-FFF2-40B4-BE49-F238E27FC236}">
                <a16:creationId xmlns:a16="http://schemas.microsoft.com/office/drawing/2014/main" id="{03AF8886-E13B-4BBA-9335-AB70D01B2247}"/>
              </a:ext>
            </a:extLst>
          </p:cNvPr>
          <p:cNvSpPr>
            <a:spLocks xmlns:a="http://schemas.openxmlformats.org/drawingml/2006/main" noGrp="1"/>
          </p:cNvSpPr>
          <p:nvPr/>
        </p:nvSpPr>
        <p:spPr>
          <a:xfrm xmlns:a="http://schemas.openxmlformats.org/drawingml/2006/main">
            <a:off x="8858250" y="4762500"/>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102A43"/>
                </a:solidFill>
                <a:latin typeface="Arial"/>
                <a:ea typeface="Arial"/>
                <a:cs typeface="Arial"/>
              </a:defRPr>
            </a:pPr>
            <a:r>
              <a:rPr sz="1950" b="1">
                <a:solidFill>
                  <a:srgbClr val="102A43"/>
                </a:solidFill>
                <a:latin typeface="Arial"/>
                <a:ea typeface="Arial"/>
                <a:cs typeface="Arial"/>
              </a:rPr>
              <a:t>AI explains the completed alert</a:t>
            </a:r>
          </a:p>
        </p:txBody>
      </p:sp>
      <p:sp>
        <p:nvSpPr>
          <p:cNvPr id="18" name="s6-right-copy">
            <a:extLst xmlns:a="http://schemas.openxmlformats.org/drawingml/2006/main">
              <a:ext uri="{FF2B5EF4-FFF2-40B4-BE49-F238E27FC236}">
                <a16:creationId xmlns:a16="http://schemas.microsoft.com/office/drawing/2014/main" id="{DB886164-B97A-48B8-8646-BC60F009073B}"/>
              </a:ext>
            </a:extLst>
          </p:cNvPr>
          <p:cNvSpPr>
            <a:spLocks xmlns:a="http://schemas.openxmlformats.org/drawingml/2006/main" noGrp="1"/>
          </p:cNvSpPr>
          <p:nvPr/>
        </p:nvSpPr>
        <p:spPr>
          <a:xfrm xmlns:a="http://schemas.openxmlformats.org/drawingml/2006/main">
            <a:off x="8858250" y="5257800"/>
            <a:ext cx="514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575" b="0">
                <a:solidFill>
                  <a:srgbClr val="617080"/>
                </a:solidFill>
                <a:latin typeface="Arial"/>
                <a:ea typeface="Arial"/>
                <a:cs typeface="Arial"/>
              </a:defRPr>
            </a:pPr>
            <a:r>
              <a:rPr sz="1575" b="0">
                <a:solidFill>
                  <a:srgbClr val="617080"/>
                </a:solidFill>
                <a:latin typeface="Arial"/>
                <a:ea typeface="Arial"/>
                <a:cs typeface="Arial"/>
              </a:rPr>
              <a:t>Latest Kp · rolling maximum · window start · window end · risk label.</a:t>
            </a:r>
          </a:p>
        </p:txBody>
      </p:sp>
      <p:sp>
        <p:nvSpPr>
          <p:cNvPr id="19" name="s6-evidence">
            <a:extLst xmlns:a="http://schemas.openxmlformats.org/drawingml/2006/main">
              <a:ext uri="{FF2B5EF4-FFF2-40B4-BE49-F238E27FC236}">
                <a16:creationId xmlns:a16="http://schemas.microsoft.com/office/drawing/2014/main" id="{186E69A8-C978-4325-A20F-35C09415A274}"/>
              </a:ext>
            </a:extLst>
          </p:cNvPr>
          <p:cNvSpPr>
            <a:spLocks xmlns:a="http://schemas.openxmlformats.org/drawingml/2006/main" noGrp="1"/>
          </p:cNvSpPr>
          <p:nvPr/>
        </p:nvSpPr>
        <p:spPr>
          <a:xfrm xmlns:a="http://schemas.openxmlformats.org/drawingml/2006/main">
            <a:off x="933450" y="7029450"/>
            <a:ext cx="1337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1725" b="0">
                <a:solidFill>
                  <a:srgbClr val="17212B"/>
                </a:solidFill>
                <a:latin typeface="Arial"/>
                <a:ea typeface="Arial"/>
                <a:cs typeface="Arial"/>
              </a:defRPr>
            </a:pPr>
            <a:r>
              <a:rPr sz="1725" b="1">
                <a:solidFill>
                  <a:srgbClr val="17212B"/>
                </a:solidFill>
                <a:latin typeface="Arial"/>
                <a:ea typeface="Arial"/>
                <a:cs typeface="Arial"/>
              </a:rPr>
              <a:t>Verified:</a:t>
            </a:r>
            <a:r>
              <a:rPr sz="1725" b="0">
                <a:solidFill>
                  <a:srgbClr val="17212B"/>
                </a:solidFill>
                <a:latin typeface="Arial"/>
                <a:ea typeface="Arial"/>
                <a:cs typeface="Arial"/>
              </a:rPr>
              <a:t> 167 standard tests; all 3 Docker-backed Kafka integration tests also passed separately.</a:t>
            </a:r>
          </a:p>
        </p:txBody>
      </p:sp>
      <p:sp>
        <p:nvSpPr>
          <p:cNvPr id="20" name="footer-6-label">
            <a:extLst xmlns:a="http://schemas.openxmlformats.org/drawingml/2006/main">
              <a:ext uri="{FF2B5EF4-FFF2-40B4-BE49-F238E27FC236}">
                <a16:creationId xmlns:a16="http://schemas.microsoft.com/office/drawing/2014/main" id="{4A25BB09-87FD-4A48-BB76-238882810B0A}"/>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8894A0"/>
                </a:solidFill>
                <a:latin typeface="Arial"/>
                <a:ea typeface="Arial"/>
                <a:cs typeface="Arial"/>
              </a:defRPr>
            </a:pPr>
            <a:r>
              <a:rPr sz="1125" b="0">
                <a:solidFill>
                  <a:srgbClr val="8894A0"/>
                </a:solidFill>
                <a:latin typeface="Arial"/>
                <a:ea typeface="Arial"/>
                <a:cs typeface="Arial"/>
              </a:rPr>
              <a:t>Reproducible with one command and no credentials</a:t>
            </a:r>
          </a:p>
        </p:txBody>
      </p:sp>
      <p:sp>
        <p:nvSpPr>
          <p:cNvPr id="21" name="footer-6-number">
            <a:extLst xmlns:a="http://schemas.openxmlformats.org/drawingml/2006/main">
              <a:ext uri="{FF2B5EF4-FFF2-40B4-BE49-F238E27FC236}">
                <a16:creationId xmlns:a16="http://schemas.microsoft.com/office/drawing/2014/main" id="{B49D803E-EDA5-49E5-B076-49FF50A70E25}"/>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8894A0"/>
                </a:solidFill>
                <a:latin typeface="Arial"/>
                <a:ea typeface="Arial"/>
                <a:cs typeface="Arial"/>
              </a:defRPr>
            </a:pPr>
            <a:r>
              <a:rPr sz="1125" b="0">
                <a:solidFill>
                  <a:srgbClr val="8894A0"/>
                </a:solidFill>
                <a:latin typeface="Arial"/>
                <a:ea typeface="Arial"/>
                <a:cs typeface="Arial"/>
              </a:rPr>
              <a:t>6</a:t>
            </a:r>
          </a:p>
        </p:txBody>
      </p:sp>
    </p:spTree>
    <p:extLst>
      <p:ext uri="{BB962C8B-B14F-4D97-AF65-F5344CB8AC3E}">
        <p14:creationId xmlns:p14="http://schemas.microsoft.com/office/powerpoint/2010/main" val="442852058"/>
      </p:ext>
    </p:extLst>
  </p:cSld>
</p:sld>
</file>

<file path=ppt/slides/slide7.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13" name="eyebrow-Lesson, limitation">
            <a:extLst xmlns:a="http://schemas.openxmlformats.org/drawingml/2006/main">
              <a:ext uri="{FF2B5EF4-FFF2-40B4-BE49-F238E27FC236}">
                <a16:creationId xmlns:a16="http://schemas.microsoft.com/office/drawing/2014/main" id="{6B7F9630-0865-4F44-B5C9-298A3EA90C1C}"/>
              </a:ext>
            </a:extLst>
          </p:cNvPr>
          <p:cNvSpPr>
            <a:spLocks xmlns:a="http://schemas.openxmlformats.org/drawingml/2006/main" noGrp="1"/>
          </p:cNvSpPr>
          <p:nvPr/>
        </p:nvSpPr>
        <p:spPr>
          <a:xfrm xmlns:a="http://schemas.openxmlformats.org/drawingml/2006/main">
            <a:off x="933450" y="457200"/>
            <a:ext cx="904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2F6FED"/>
                </a:solidFill>
                <a:latin typeface="Arial"/>
                <a:ea typeface="Arial"/>
                <a:cs typeface="Arial"/>
              </a:defRPr>
            </a:pPr>
            <a:r>
              <a:rPr sz="1275" b="1">
                <a:solidFill>
                  <a:srgbClr val="2F6FED"/>
                </a:solidFill>
                <a:latin typeface="Arial"/>
                <a:ea typeface="Arial"/>
                <a:cs typeface="Arial"/>
              </a:rPr>
              <a:t>LESSON, LIMITATION, AND NEXT STEP</a:t>
            </a:r>
          </a:p>
        </p:txBody>
      </p:sp>
      <p:sp>
        <p:nvSpPr>
          <p:cNvPr id="2" name="title-Deterministic repl">
            <a:extLst xmlns:a="http://schemas.openxmlformats.org/drawingml/2006/main">
              <a:ext uri="{FF2B5EF4-FFF2-40B4-BE49-F238E27FC236}">
                <a16:creationId xmlns:a16="http://schemas.microsoft.com/office/drawing/2014/main" id="{89CD0F6C-6C20-43A6-B33C-30889A42FED4}"/>
              </a:ext>
            </a:extLst>
          </p:cNvPr>
          <p:cNvSpPr>
            <a:spLocks xmlns:a="http://schemas.openxmlformats.org/drawingml/2006/main" noGrp="1"/>
          </p:cNvSpPr>
          <p:nvPr/>
        </p:nvSpPr>
        <p:spPr>
          <a:xfrm xmlns:a="http://schemas.openxmlformats.org/drawingml/2006/main">
            <a:off x="933450" y="838200"/>
            <a:ext cx="133731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3675" b="1">
                <a:solidFill>
                  <a:srgbClr val="102A43"/>
                </a:solidFill>
                <a:latin typeface="Arial"/>
                <a:ea typeface="Arial"/>
                <a:cs typeface="Arial"/>
              </a:defRPr>
            </a:pPr>
            <a:r>
              <a:rPr sz="3675" b="1">
                <a:solidFill>
                  <a:srgbClr val="102A43"/>
                </a:solidFill>
                <a:latin typeface="Arial"/>
                <a:ea typeface="Arial"/>
                <a:cs typeface="Arial"/>
              </a:rPr>
              <a:t>Deterministic replay made the streaming behavior provable</a:t>
            </a:r>
          </a:p>
        </p:txBody>
      </p:sp>
      <p:sp>
        <p:nvSpPr>
          <p:cNvPr id="3" name="s7-learned-heading">
            <a:extLst xmlns:a="http://schemas.openxmlformats.org/drawingml/2006/main">
              <a:ext uri="{FF2B5EF4-FFF2-40B4-BE49-F238E27FC236}">
                <a16:creationId xmlns:a16="http://schemas.microsoft.com/office/drawing/2014/main" id="{971FB1CF-95E4-4213-BA7D-33C05BFE8A64}"/>
              </a:ext>
            </a:extLst>
          </p:cNvPr>
          <p:cNvSpPr>
            <a:spLocks xmlns:a="http://schemas.openxmlformats.org/drawingml/2006/main" noGrp="1"/>
          </p:cNvSpPr>
          <p:nvPr/>
        </p:nvSpPr>
        <p:spPr>
          <a:xfrm xmlns:a="http://schemas.openxmlformats.org/drawingml/2006/main">
            <a:off x="933450" y="25717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2F6FED"/>
                </a:solidFill>
                <a:latin typeface="Arial"/>
                <a:ea typeface="Arial"/>
                <a:cs typeface="Arial"/>
              </a:defRPr>
            </a:pPr>
            <a:r>
              <a:rPr sz="1500" b="1">
                <a:solidFill>
                  <a:srgbClr val="2F6FED"/>
                </a:solidFill>
                <a:latin typeface="Arial"/>
                <a:ea typeface="Arial"/>
                <a:cs typeface="Arial"/>
              </a:rPr>
              <a:t>WHAT WE LEARNED</a:t>
            </a:r>
          </a:p>
        </p:txBody>
      </p:sp>
      <p:sp>
        <p:nvSpPr>
          <p:cNvPr id="4" name="s7-learned-copy">
            <a:extLst xmlns:a="http://schemas.openxmlformats.org/drawingml/2006/main">
              <a:ext uri="{FF2B5EF4-FFF2-40B4-BE49-F238E27FC236}">
                <a16:creationId xmlns:a16="http://schemas.microsoft.com/office/drawing/2014/main" id="{4B57A443-65EB-4914-BA83-75692A66539C}"/>
              </a:ext>
            </a:extLst>
          </p:cNvPr>
          <p:cNvSpPr>
            <a:spLocks xmlns:a="http://schemas.openxmlformats.org/drawingml/2006/main" noGrp="1"/>
          </p:cNvSpPr>
          <p:nvPr/>
        </p:nvSpPr>
        <p:spPr>
          <a:xfrm xmlns:a="http://schemas.openxmlformats.org/drawingml/2006/main">
            <a:off x="933450" y="3000375"/>
            <a:ext cx="619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2025" b="0">
                <a:solidFill>
                  <a:srgbClr val="17212B"/>
                </a:solidFill>
                <a:latin typeface="Arial"/>
                <a:ea typeface="Arial"/>
                <a:cs typeface="Arial"/>
              </a:defRPr>
            </a:pPr>
            <a:r>
              <a:rPr sz="2025" b="0">
                <a:solidFill>
                  <a:srgbClr val="17212B"/>
                </a:solidFill>
                <a:latin typeface="Arial"/>
                <a:ea typeface="Arial"/>
                <a:cs typeface="Arial"/>
              </a:rPr>
              <a:t>Quiet live data could not demonstrate a threshold crossing. A labeled replay reliably proves crossing, deduplication, window expiry, and rearming.</a:t>
            </a:r>
          </a:p>
        </p:txBody>
      </p:sp>
      <p:sp>
        <p:nvSpPr>
          <p:cNvPr id="5" name="s7-limitation-heading">
            <a:extLst xmlns:a="http://schemas.openxmlformats.org/drawingml/2006/main">
              <a:ext uri="{FF2B5EF4-FFF2-40B4-BE49-F238E27FC236}">
                <a16:creationId xmlns:a16="http://schemas.microsoft.com/office/drawing/2014/main" id="{6BBB066D-852F-4BB5-BC85-95EA0D0366E3}"/>
              </a:ext>
            </a:extLst>
          </p:cNvPr>
          <p:cNvSpPr>
            <a:spLocks xmlns:a="http://schemas.openxmlformats.org/drawingml/2006/main" noGrp="1"/>
          </p:cNvSpPr>
          <p:nvPr/>
        </p:nvSpPr>
        <p:spPr>
          <a:xfrm xmlns:a="http://schemas.openxmlformats.org/drawingml/2006/main">
            <a:off x="933450" y="46672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2F6FED"/>
                </a:solidFill>
                <a:latin typeface="Arial"/>
                <a:ea typeface="Arial"/>
                <a:cs typeface="Arial"/>
              </a:defRPr>
            </a:pPr>
            <a:r>
              <a:rPr sz="1500" b="1">
                <a:solidFill>
                  <a:srgbClr val="2F6FED"/>
                </a:solidFill>
                <a:latin typeface="Arial"/>
                <a:ea typeface="Arial"/>
                <a:cs typeface="Arial"/>
              </a:rPr>
              <a:t>LIMITATION</a:t>
            </a:r>
          </a:p>
        </p:txBody>
      </p:sp>
      <p:sp>
        <p:nvSpPr>
          <p:cNvPr id="6" name="s7-limitation-copy">
            <a:extLst xmlns:a="http://schemas.openxmlformats.org/drawingml/2006/main">
              <a:ext uri="{FF2B5EF4-FFF2-40B4-BE49-F238E27FC236}">
                <a16:creationId xmlns:a16="http://schemas.microsoft.com/office/drawing/2014/main" id="{885F7101-4237-4191-9C8C-BC0FF4505CF2}"/>
              </a:ext>
            </a:extLst>
          </p:cNvPr>
          <p:cNvSpPr>
            <a:spLocks xmlns:a="http://schemas.openxmlformats.org/drawingml/2006/main" noGrp="1"/>
          </p:cNvSpPr>
          <p:nvPr/>
        </p:nvSpPr>
        <p:spPr>
          <a:xfrm xmlns:a="http://schemas.openxmlformats.org/drawingml/2006/main">
            <a:off x="933450" y="5095875"/>
            <a:ext cx="6191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2025" b="0">
                <a:solidFill>
                  <a:srgbClr val="17212B"/>
                </a:solidFill>
                <a:latin typeface="Arial"/>
                <a:ea typeface="Arial"/>
                <a:cs typeface="Arial"/>
              </a:defRPr>
            </a:pPr>
            <a:r>
              <a:rPr sz="2025" b="0">
                <a:solidFill>
                  <a:srgbClr val="17212B"/>
                </a:solidFill>
                <a:latin typeface="Arial"/>
                <a:ea typeface="Arial"/>
                <a:cs typeface="Arial"/>
              </a:rPr>
              <a:t>This is a recent global Kp condition – not a forecast or station-level propagation model.</a:t>
            </a:r>
          </a:p>
        </p:txBody>
      </p:sp>
      <p:sp>
        <p:nvSpPr>
          <p:cNvPr id="7" name="s7-next-heading">
            <a:extLst xmlns:a="http://schemas.openxmlformats.org/drawingml/2006/main">
              <a:ext uri="{FF2B5EF4-FFF2-40B4-BE49-F238E27FC236}">
                <a16:creationId xmlns:a16="http://schemas.microsoft.com/office/drawing/2014/main" id="{EB5842E5-F688-49F6-8ED5-9C9162055A8A}"/>
              </a:ext>
            </a:extLst>
          </p:cNvPr>
          <p:cNvSpPr>
            <a:spLocks xmlns:a="http://schemas.openxmlformats.org/drawingml/2006/main" noGrp="1"/>
          </p:cNvSpPr>
          <p:nvPr/>
        </p:nvSpPr>
        <p:spPr>
          <a:xfrm xmlns:a="http://schemas.openxmlformats.org/drawingml/2006/main">
            <a:off x="8077200" y="2571750"/>
            <a:ext cx="6229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2F6FED"/>
                </a:solidFill>
                <a:latin typeface="Arial"/>
                <a:ea typeface="Arial"/>
                <a:cs typeface="Arial"/>
              </a:defRPr>
            </a:pPr>
            <a:r>
              <a:rPr sz="1500" b="1">
                <a:solidFill>
                  <a:srgbClr val="2F6FED"/>
                </a:solidFill>
                <a:latin typeface="Arial"/>
                <a:ea typeface="Arial"/>
                <a:cs typeface="Arial"/>
              </a:rPr>
              <a:t>REALISTIC NEXT STEP</a:t>
            </a:r>
          </a:p>
        </p:txBody>
      </p:sp>
      <p:sp>
        <p:nvSpPr>
          <p:cNvPr id="8" name="s7-next-copy">
            <a:extLst xmlns:a="http://schemas.openxmlformats.org/drawingml/2006/main">
              <a:ext uri="{FF2B5EF4-FFF2-40B4-BE49-F238E27FC236}">
                <a16:creationId xmlns:a16="http://schemas.microsoft.com/office/drawing/2014/main" id="{5325B579-80BB-489E-BD95-074FC7706860}"/>
              </a:ext>
            </a:extLst>
          </p:cNvPr>
          <p:cNvSpPr>
            <a:spLocks xmlns:a="http://schemas.openxmlformats.org/drawingml/2006/main" noGrp="1"/>
          </p:cNvSpPr>
          <p:nvPr/>
        </p:nvSpPr>
        <p:spPr>
          <a:xfrm xmlns:a="http://schemas.openxmlformats.org/drawingml/2006/main">
            <a:off x="8077200" y="3000375"/>
            <a:ext cx="62293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2025" b="0">
                <a:solidFill>
                  <a:srgbClr val="17212B"/>
                </a:solidFill>
                <a:latin typeface="Arial"/>
                <a:ea typeface="Arial"/>
                <a:cs typeface="Arial"/>
              </a:defRPr>
            </a:pPr>
            <a:r>
              <a:rPr sz="2025" b="0">
                <a:solidFill>
                  <a:srgbClr val="17212B"/>
                </a:solidFill>
                <a:latin typeface="Arial"/>
                <a:ea typeface="Arial"/>
                <a:cs typeface="Arial"/>
              </a:rPr>
              <a:t>Add a long-running consumer that continuously processes live NOAA events and refreshes the UI.</a:t>
            </a:r>
          </a:p>
        </p:txBody>
      </p:sp>
      <p:sp>
        <p:nvSpPr>
          <p:cNvPr id="9" name="s7-final-background">
            <a:extLst xmlns:a="http://schemas.openxmlformats.org/drawingml/2006/main">
              <a:ext uri="{FF2B5EF4-FFF2-40B4-BE49-F238E27FC236}">
                <a16:creationId xmlns:a16="http://schemas.microsoft.com/office/drawing/2014/main" id="{5767DC6F-37EE-4F70-8CC4-F6DBA6D1E51B}"/>
              </a:ext>
            </a:extLst>
          </p:cNvPr>
          <p:cNvSpPr>
            <a:spLocks xmlns:a="http://schemas.openxmlformats.org/drawingml/2006/main" noGrp="1"/>
          </p:cNvSpPr>
          <p:nvPr/>
        </p:nvSpPr>
        <p:spPr>
          <a:xfrm xmlns:a="http://schemas.openxmlformats.org/drawingml/2006/main">
            <a:off x="8077200" y="4524375"/>
            <a:ext cx="6229350" cy="17145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0" name="s7-final-copy">
            <a:extLst xmlns:a="http://schemas.openxmlformats.org/drawingml/2006/main">
              <a:ext uri="{FF2B5EF4-FFF2-40B4-BE49-F238E27FC236}">
                <a16:creationId xmlns:a16="http://schemas.microsoft.com/office/drawing/2014/main" id="{909AE981-4D88-4410-9DE8-6516A3152630}"/>
              </a:ext>
            </a:extLst>
          </p:cNvPr>
          <p:cNvSpPr>
            <a:spLocks xmlns:a="http://schemas.openxmlformats.org/drawingml/2006/main" noGrp="1"/>
          </p:cNvSpPr>
          <p:nvPr/>
        </p:nvSpPr>
        <p:spPr>
          <a:xfrm xmlns:a="http://schemas.openxmlformats.org/drawingml/2006/main">
            <a:off x="8458200" y="4905375"/>
            <a:ext cx="54673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567"/>
          </a:bodyPr>
          <a:lstStyle xmlns:a="http://schemas.openxmlformats.org/drawingml/2006/main"/>
          <a:p xmlns:a="http://schemas.openxmlformats.org/drawingml/2006/main">
            <a:pPr algn="l">
              <a:lnSpc>
                <a:spcPct val="115000"/>
              </a:lnSpc>
              <a:buNone/>
              <a:defRPr sz="2250" b="0">
                <a:solidFill>
                  <a:srgbClr val="FFFFFF"/>
                </a:solidFill>
                <a:latin typeface="Arial"/>
                <a:ea typeface="Arial"/>
                <a:cs typeface="Arial"/>
              </a:defRPr>
            </a:pPr>
            <a:r>
              <a:rPr sz="2250" b="0">
                <a:solidFill>
                  <a:srgbClr val="FFFFFF"/>
                </a:solidFill>
                <a:latin typeface="Arial"/>
                <a:ea typeface="Arial"/>
                <a:cs typeface="Arial"/>
              </a:rPr>
              <a:t>The result is small, explainable, and reproducible: one ordered stream, one clear rule, and evidence for every alert.</a:t>
            </a:r>
          </a:p>
        </p:txBody>
      </p:sp>
      <p:sp>
        <p:nvSpPr>
          <p:cNvPr id="11" name="footer-7-label">
            <a:extLst xmlns:a="http://schemas.openxmlformats.org/drawingml/2006/main">
              <a:ext uri="{FF2B5EF4-FFF2-40B4-BE49-F238E27FC236}">
                <a16:creationId xmlns:a16="http://schemas.microsoft.com/office/drawing/2014/main" id="{B3F70CCF-647C-4177-BA51-CF99974AB39C}"/>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8894A0"/>
                </a:solidFill>
                <a:latin typeface="Arial"/>
                <a:ea typeface="Arial"/>
                <a:cs typeface="Arial"/>
              </a:defRPr>
            </a:pPr>
            <a:r>
              <a:rPr sz="1125" b="0">
                <a:solidFill>
                  <a:srgbClr val="8894A0"/>
                </a:solidFill>
                <a:latin typeface="Arial"/>
                <a:ea typeface="Arial"/>
                <a:cs typeface="Arial"/>
              </a:rPr>
              <a:t>Questions</a:t>
            </a:r>
          </a:p>
        </p:txBody>
      </p:sp>
      <p:sp>
        <p:nvSpPr>
          <p:cNvPr id="12" name="footer-7-number">
            <a:extLst xmlns:a="http://schemas.openxmlformats.org/drawingml/2006/main">
              <a:ext uri="{FF2B5EF4-FFF2-40B4-BE49-F238E27FC236}">
                <a16:creationId xmlns:a16="http://schemas.microsoft.com/office/drawing/2014/main" id="{DBFB2A45-8850-4FC1-85A0-1E068DD75B78}"/>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8894A0"/>
                </a:solidFill>
                <a:latin typeface="Arial"/>
                <a:ea typeface="Arial"/>
                <a:cs typeface="Arial"/>
              </a:defRPr>
            </a:pPr>
            <a:r>
              <a:rPr sz="1125" b="0">
                <a:solidFill>
                  <a:srgbClr val="8894A0"/>
                </a:solidFill>
                <a:latin typeface="Arial"/>
                <a:ea typeface="Arial"/>
                <a:cs typeface="Arial"/>
              </a:rPr>
              <a:t>7</a:t>
            </a:r>
          </a:p>
        </p:txBody>
      </p:sp>
    </p:spTree>
    <p:extLst>
      <p:ext uri="{BB962C8B-B14F-4D97-AF65-F5344CB8AC3E}">
        <p14:creationId xmlns:p14="http://schemas.microsoft.com/office/powerpoint/2010/main" val="1416426630"/>
      </p:ext>
    </p:extLst>
  </p:cSld>
</p:sld>
</file>

<file path=ppt/slides/slide8.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21" name="eyebrow-Backup · use only ">
            <a:extLst xmlns:a="http://schemas.openxmlformats.org/drawingml/2006/main">
              <a:ext uri="{FF2B5EF4-FFF2-40B4-BE49-F238E27FC236}">
                <a16:creationId xmlns:a16="http://schemas.microsoft.com/office/drawing/2014/main" id="{E44DF0DC-449B-4259-951C-077C61813DE9}"/>
              </a:ext>
            </a:extLst>
          </p:cNvPr>
          <p:cNvSpPr>
            <a:spLocks xmlns:a="http://schemas.openxmlformats.org/drawingml/2006/main" noGrp="1"/>
          </p:cNvSpPr>
          <p:nvPr/>
        </p:nvSpPr>
        <p:spPr>
          <a:xfrm xmlns:a="http://schemas.openxmlformats.org/drawingml/2006/main">
            <a:off x="933450" y="457200"/>
            <a:ext cx="904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2F6FED"/>
                </a:solidFill>
                <a:latin typeface="Arial"/>
                <a:ea typeface="Arial"/>
                <a:cs typeface="Arial"/>
              </a:defRPr>
            </a:pPr>
            <a:r>
              <a:rPr sz="1275" b="1">
                <a:solidFill>
                  <a:srgbClr val="2F6FED"/>
                </a:solidFill>
                <a:latin typeface="Arial"/>
                <a:ea typeface="Arial"/>
                <a:cs typeface="Arial"/>
              </a:rPr>
              <a:t>BACKUP · USE ONLY IF THE LIVE DEMO FAILS</a:t>
            </a:r>
          </a:p>
        </p:txBody>
      </p:sp>
      <p:sp>
        <p:nvSpPr>
          <p:cNvPr id="2" name="title-Saved terminal evi">
            <a:extLst xmlns:a="http://schemas.openxmlformats.org/drawingml/2006/main">
              <a:ext uri="{FF2B5EF4-FFF2-40B4-BE49-F238E27FC236}">
                <a16:creationId xmlns:a16="http://schemas.microsoft.com/office/drawing/2014/main" id="{12415409-C97F-4458-B0F2-56B3B24CB469}"/>
              </a:ext>
            </a:extLst>
          </p:cNvPr>
          <p:cNvSpPr>
            <a:spLocks xmlns:a="http://schemas.openxmlformats.org/drawingml/2006/main" noGrp="1"/>
          </p:cNvSpPr>
          <p:nvPr/>
        </p:nvSpPr>
        <p:spPr>
          <a:xfrm xmlns:a="http://schemas.openxmlformats.org/drawingml/2006/main">
            <a:off x="933450" y="838200"/>
            <a:ext cx="133731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3675" b="1">
                <a:solidFill>
                  <a:srgbClr val="102A43"/>
                </a:solidFill>
                <a:latin typeface="Arial"/>
                <a:ea typeface="Arial"/>
                <a:cs typeface="Arial"/>
              </a:defRPr>
            </a:pPr>
            <a:r>
              <a:rPr sz="3675" b="1">
                <a:solidFill>
                  <a:srgbClr val="102A43"/>
                </a:solidFill>
                <a:latin typeface="Arial"/>
                <a:ea typeface="Arial"/>
                <a:cs typeface="Arial"/>
              </a:rPr>
              <a:t>Saved terminal evidence</a:t>
            </a:r>
          </a:p>
        </p:txBody>
      </p:sp>
      <p:sp>
        <p:nvSpPr>
          <p:cNvPr id="3" name="s8-terminal-background">
            <a:extLst xmlns:a="http://schemas.openxmlformats.org/drawingml/2006/main">
              <a:ext uri="{FF2B5EF4-FFF2-40B4-BE49-F238E27FC236}">
                <a16:creationId xmlns:a16="http://schemas.microsoft.com/office/drawing/2014/main" id="{9DD6A5E7-05A4-4313-87F9-2E99187821D2}"/>
              </a:ext>
            </a:extLst>
          </p:cNvPr>
          <p:cNvSpPr>
            <a:spLocks xmlns:a="http://schemas.openxmlformats.org/drawingml/2006/main" noGrp="1"/>
          </p:cNvSpPr>
          <p:nvPr/>
        </p:nvSpPr>
        <p:spPr>
          <a:xfrm xmlns:a="http://schemas.openxmlformats.org/drawingml/2006/main">
            <a:off x="933450" y="1809750"/>
            <a:ext cx="13373100" cy="4762500"/>
          </a:xfrm>
          <a:prstGeom xmlns:a="http://schemas.openxmlformats.org/drawingml/2006/main" prst="roundRect">
            <a:avLst>
              <a:gd name="adj" fmla="val 2400"/>
            </a:avLst>
          </a:prstGeom>
          <a:solidFill xmlns:a="http://schemas.openxmlformats.org/drawingml/2006/main">
            <a:srgbClr val="101820"/>
          </a:solidFill>
          <a:ln xmlns:a="http://schemas.openxmlformats.org/drawingml/2006/main" w="0">
            <a:noFill/>
            <a:prstDash val="solid"/>
          </a:ln>
        </p:spPr>
      </p:sp>
      <p:sp>
        <p:nvSpPr>
          <p:cNvPr id="4" name="s8-line-1">
            <a:extLst xmlns:a="http://schemas.openxmlformats.org/drawingml/2006/main">
              <a:ext uri="{FF2B5EF4-FFF2-40B4-BE49-F238E27FC236}">
                <a16:creationId xmlns:a16="http://schemas.microsoft.com/office/drawing/2014/main" id="{CE3AC14D-FF37-4B4E-BBB7-CA34373F5B7F}"/>
              </a:ext>
            </a:extLst>
          </p:cNvPr>
          <p:cNvSpPr>
            <a:spLocks xmlns:a="http://schemas.openxmlformats.org/drawingml/2006/main" noGrp="1"/>
          </p:cNvSpPr>
          <p:nvPr/>
        </p:nvSpPr>
        <p:spPr>
          <a:xfrm xmlns:a="http://schemas.openxmlformats.org/drawingml/2006/main">
            <a:off x="1314450" y="207645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 ./run_demo.sh</a:t>
            </a:r>
          </a:p>
        </p:txBody>
      </p:sp>
      <p:sp>
        <p:nvSpPr>
          <p:cNvPr id="5" name="s8-line-2">
            <a:extLst xmlns:a="http://schemas.openxmlformats.org/drawingml/2006/main">
              <a:ext uri="{FF2B5EF4-FFF2-40B4-BE49-F238E27FC236}">
                <a16:creationId xmlns:a16="http://schemas.microsoft.com/office/drawing/2014/main" id="{110B99F3-7B70-4AA1-887D-B476819C96A3}"/>
              </a:ext>
            </a:extLst>
          </p:cNvPr>
          <p:cNvSpPr>
            <a:spLocks xmlns:a="http://schemas.openxmlformats.org/drawingml/2006/main" noGrp="1"/>
          </p:cNvSpPr>
          <p:nvPr/>
        </p:nvSpPr>
        <p:spPr>
          <a:xfrm xmlns:a="http://schemas.openxmlformats.org/drawingml/2006/main">
            <a:off x="1314450" y="235267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Published 9 event(s) · Topic=kp_observations · key=planetary_kp</a:t>
            </a:r>
          </a:p>
        </p:txBody>
      </p:sp>
      <p:sp>
        <p:nvSpPr>
          <p:cNvPr id="6" name="s8-line-3">
            <a:extLst xmlns:a="http://schemas.openxmlformats.org/drawingml/2006/main">
              <a:ext uri="{FF2B5EF4-FFF2-40B4-BE49-F238E27FC236}">
                <a16:creationId xmlns:a16="http://schemas.microsoft.com/office/drawing/2014/main" id="{FBFA99CB-FAE0-4DA5-ADC9-829C96036DEF}"/>
              </a:ext>
            </a:extLst>
          </p:cNvPr>
          <p:cNvSpPr>
            <a:spLocks xmlns:a="http://schemas.openxmlformats.org/drawingml/2006/main" noGrp="1"/>
          </p:cNvSpPr>
          <p:nvPr/>
        </p:nvSpPr>
        <p:spPr>
          <a:xfrm xmlns:a="http://schemas.openxmlformats.org/drawingml/2006/main">
            <a:off x="1314450" y="262890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7FE3A7"/>
                </a:solidFill>
                <a:latin typeface="Courier New"/>
                <a:ea typeface="Courier New"/>
                <a:cs typeface="Courier New"/>
              </a:defRPr>
            </a:pPr>
            <a:r>
              <a:rPr sz="1500" b="0">
                <a:solidFill>
                  <a:srgbClr val="7FE3A7"/>
                </a:solidFill>
                <a:latin typeface="Courier New"/>
                <a:ea typeface="Courier New"/>
                <a:cs typeface="Courier New"/>
              </a:rPr>
              <a:t>Processed 9 valid event(s); emitted 2 alert(s)</a:t>
            </a:r>
          </a:p>
        </p:txBody>
      </p:sp>
      <p:sp>
        <p:nvSpPr>
          <p:cNvPr id="7" name="s8-line-4">
            <a:extLst xmlns:a="http://schemas.openxmlformats.org/drawingml/2006/main">
              <a:ext uri="{FF2B5EF4-FFF2-40B4-BE49-F238E27FC236}">
                <a16:creationId xmlns:a16="http://schemas.microsoft.com/office/drawing/2014/main" id="{B1A1BFE9-D14E-4256-B03C-9438A3FFB199}"/>
              </a:ext>
            </a:extLst>
          </p:cNvPr>
          <p:cNvSpPr>
            <a:spLocks xmlns:a="http://schemas.openxmlformats.org/drawingml/2006/main" noGrp="1"/>
          </p:cNvSpPr>
          <p:nvPr/>
        </p:nvSpPr>
        <p:spPr>
          <a:xfrm xmlns:a="http://schemas.openxmlformats.org/drawingml/2006/main">
            <a:off x="1314450" y="290512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Briefing source: fallback</a:t>
            </a:r>
          </a:p>
        </p:txBody>
      </p:sp>
      <p:sp>
        <p:nvSpPr>
          <p:cNvPr id="8" name="s8-line-5">
            <a:extLst xmlns:a="http://schemas.openxmlformats.org/drawingml/2006/main">
              <a:ext uri="{FF2B5EF4-FFF2-40B4-BE49-F238E27FC236}">
                <a16:creationId xmlns:a16="http://schemas.microsoft.com/office/drawing/2014/main" id="{A01F8DFC-F73F-4E2C-8861-D0721E879F8A}"/>
              </a:ext>
            </a:extLst>
          </p:cNvPr>
          <p:cNvSpPr>
            <a:spLocks xmlns:a="http://schemas.openxmlformats.org/drawingml/2006/main" noGrp="1"/>
          </p:cNvSpPr>
          <p:nvPr/>
        </p:nvSpPr>
        <p:spPr>
          <a:xfrm xmlns:a="http://schemas.openxmlformats.org/drawingml/2006/main">
            <a:off x="1314450" y="318135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7FE3A7"/>
                </a:solidFill>
                <a:latin typeface="Courier New"/>
                <a:ea typeface="Courier New"/>
                <a:cs typeface="Courier New"/>
              </a:defRPr>
            </a:pPr>
            <a:r>
              <a:rPr sz="1500" b="0">
                <a:solidFill>
                  <a:srgbClr val="7FE3A7"/>
                </a:solidFill>
                <a:latin typeface="Courier New"/>
                <a:ea typeface="Courier New"/>
                <a:cs typeface="Courier New"/>
              </a:rPr>
              <a:t>Evaluation: 7/7 assertions passed</a:t>
            </a:r>
          </a:p>
        </p:txBody>
      </p:sp>
      <p:sp>
        <p:nvSpPr>
          <p:cNvPr id="9" name="s8-line-6">
            <a:extLst xmlns:a="http://schemas.openxmlformats.org/drawingml/2006/main">
              <a:ext uri="{FF2B5EF4-FFF2-40B4-BE49-F238E27FC236}">
                <a16:creationId xmlns:a16="http://schemas.microsoft.com/office/drawing/2014/main" id="{88785356-8CD2-44E8-B4A8-BFF50195FE9F}"/>
              </a:ext>
            </a:extLst>
          </p:cNvPr>
          <p:cNvSpPr>
            <a:spLocks xmlns:a="http://schemas.openxmlformats.org/drawingml/2006/main" noGrp="1"/>
          </p:cNvSpPr>
          <p:nvPr/>
        </p:nvSpPr>
        <p:spPr>
          <a:xfrm xmlns:a="http://schemas.openxmlformats.org/drawingml/2006/main">
            <a:off x="1314450" y="345757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7FE3A7"/>
                </a:solidFill>
                <a:latin typeface="Courier New"/>
                <a:ea typeface="Courier New"/>
                <a:cs typeface="Courier New"/>
              </a:defRPr>
            </a:pPr>
            <a:r>
              <a:rPr sz="1500" b="0">
                <a:solidFill>
                  <a:srgbClr val="7FE3A7"/>
                </a:solidFill>
                <a:latin typeface="Courier New"/>
                <a:ea typeface="Courier New"/>
                <a:cs typeface="Courier New"/>
              </a:rPr>
              <a:t>Artifacts match the labeled fixture:</a:t>
            </a:r>
          </a:p>
        </p:txBody>
      </p:sp>
      <p:sp>
        <p:nvSpPr>
          <p:cNvPr id="10" name="s8-line-7">
            <a:extLst xmlns:a="http://schemas.openxmlformats.org/drawingml/2006/main">
              <a:ext uri="{FF2B5EF4-FFF2-40B4-BE49-F238E27FC236}">
                <a16:creationId xmlns:a16="http://schemas.microsoft.com/office/drawing/2014/main" id="{B37CE2B3-0FF9-4F38-BE08-B6AA5E90D35F}"/>
              </a:ext>
            </a:extLst>
          </p:cNvPr>
          <p:cNvSpPr>
            <a:spLocks xmlns:a="http://schemas.openxmlformats.org/drawingml/2006/main" noGrp="1"/>
          </p:cNvSpPr>
          <p:nvPr/>
        </p:nvSpPr>
        <p:spPr>
          <a:xfrm xmlns:a="http://schemas.openxmlformats.org/drawingml/2006/main">
            <a:off x="1314450" y="373380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  2 alerts · 9 metrics rows · briefing present</a:t>
            </a:r>
          </a:p>
        </p:txBody>
      </p:sp>
      <p:sp>
        <p:nvSpPr>
          <p:cNvPr id="11" name="s8-line-8">
            <a:extLst xmlns:a="http://schemas.openxmlformats.org/drawingml/2006/main">
              <a:ext uri="{FF2B5EF4-FFF2-40B4-BE49-F238E27FC236}">
                <a16:creationId xmlns:a16="http://schemas.microsoft.com/office/drawing/2014/main" id="{874AB735-32ED-4CDA-8DBE-0DF9EF9FB7E4}"/>
              </a:ext>
            </a:extLst>
          </p:cNvPr>
          <p:cNvSpPr>
            <a:spLocks xmlns:a="http://schemas.openxmlformats.org/drawingml/2006/main" noGrp="1"/>
          </p:cNvSpPr>
          <p:nvPr/>
        </p:nvSpPr>
        <p:spPr>
          <a:xfrm xmlns:a="http://schemas.openxmlformats.org/drawingml/2006/main">
            <a:off x="1314450" y="401002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7FE3A7"/>
                </a:solidFill>
                <a:latin typeface="Courier New"/>
                <a:ea typeface="Courier New"/>
                <a:cs typeface="Courier New"/>
              </a:defRPr>
            </a:pPr>
            <a:r>
              <a:rPr sz="1500" b="0">
                <a:solidFill>
                  <a:srgbClr val="7FE3A7"/>
                </a:solidFill>
                <a:latin typeface="Courier New"/>
                <a:ea typeface="Courier New"/>
                <a:cs typeface="Courier New"/>
              </a:rPr>
              <a:t>167 passed, 3 opt-in tests skipped</a:t>
            </a:r>
          </a:p>
        </p:txBody>
      </p:sp>
      <p:sp>
        <p:nvSpPr>
          <p:cNvPr id="12" name="s8-line-9">
            <a:extLst xmlns:a="http://schemas.openxmlformats.org/drawingml/2006/main">
              <a:ext uri="{FF2B5EF4-FFF2-40B4-BE49-F238E27FC236}">
                <a16:creationId xmlns:a16="http://schemas.microsoft.com/office/drawing/2014/main" id="{12F5626D-0065-402D-8494-E71C742FEB00}"/>
              </a:ext>
            </a:extLst>
          </p:cNvPr>
          <p:cNvSpPr>
            <a:spLocks xmlns:a="http://schemas.openxmlformats.org/drawingml/2006/main" noGrp="1"/>
          </p:cNvSpPr>
          <p:nvPr/>
        </p:nvSpPr>
        <p:spPr>
          <a:xfrm xmlns:a="http://schemas.openxmlformats.org/drawingml/2006/main">
            <a:off x="1314450" y="428625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Demo complete.</a:t>
            </a:r>
          </a:p>
        </p:txBody>
      </p:sp>
      <p:sp>
        <p:nvSpPr>
          <p:cNvPr id="13" name="s8-line-10">
            <a:extLst xmlns:a="http://schemas.openxmlformats.org/drawingml/2006/main">
              <a:ext uri="{FF2B5EF4-FFF2-40B4-BE49-F238E27FC236}">
                <a16:creationId xmlns:a16="http://schemas.microsoft.com/office/drawing/2014/main" id="{A3E85F80-7CA3-47EE-8485-453FA2BFB347}"/>
              </a:ext>
            </a:extLst>
          </p:cNvPr>
          <p:cNvSpPr>
            <a:spLocks xmlns:a="http://schemas.openxmlformats.org/drawingml/2006/main" noGrp="1"/>
          </p:cNvSpPr>
          <p:nvPr/>
        </p:nvSpPr>
        <p:spPr>
          <a:xfrm xmlns:a="http://schemas.openxmlformats.org/drawingml/2006/main">
            <a:off x="1314450" y="456247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p xmlns:a="http://schemas.openxmlformats.org/drawingml/2006/main">
            <a:r>
              <a:t/>
            </a:r>
          </a:p>
        </p:txBody>
      </p:sp>
      <p:sp>
        <p:nvSpPr>
          <p:cNvPr id="14" name="s8-line-11">
            <a:extLst xmlns:a="http://schemas.openxmlformats.org/drawingml/2006/main">
              <a:ext uri="{FF2B5EF4-FFF2-40B4-BE49-F238E27FC236}">
                <a16:creationId xmlns:a16="http://schemas.microsoft.com/office/drawing/2014/main" id="{98EFD66B-6A67-44B7-828E-1E951CDAF8A4}"/>
              </a:ext>
            </a:extLst>
          </p:cNvPr>
          <p:cNvSpPr>
            <a:spLocks xmlns:a="http://schemas.openxmlformats.org/drawingml/2006/main" noGrp="1"/>
          </p:cNvSpPr>
          <p:nvPr/>
        </p:nvSpPr>
        <p:spPr>
          <a:xfrm xmlns:a="http://schemas.openxmlformats.org/drawingml/2006/main">
            <a:off x="1314450" y="483870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Artifacts</a:t>
            </a:r>
          </a:p>
        </p:txBody>
      </p:sp>
      <p:sp>
        <p:nvSpPr>
          <p:cNvPr id="15" name="s8-line-12">
            <a:extLst xmlns:a="http://schemas.openxmlformats.org/drawingml/2006/main">
              <a:ext uri="{FF2B5EF4-FFF2-40B4-BE49-F238E27FC236}">
                <a16:creationId xmlns:a16="http://schemas.microsoft.com/office/drawing/2014/main" id="{5A1138DA-024C-4680-A177-8CD9A45ABD9D}"/>
              </a:ext>
            </a:extLst>
          </p:cNvPr>
          <p:cNvSpPr>
            <a:spLocks xmlns:a="http://schemas.openxmlformats.org/drawingml/2006/main" noGrp="1"/>
          </p:cNvSpPr>
          <p:nvPr/>
        </p:nvSpPr>
        <p:spPr>
          <a:xfrm xmlns:a="http://schemas.openxmlformats.org/drawingml/2006/main">
            <a:off x="1314450" y="511492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  outputs/alert.json</a:t>
            </a:r>
          </a:p>
        </p:txBody>
      </p:sp>
      <p:sp>
        <p:nvSpPr>
          <p:cNvPr id="16" name="s8-line-13">
            <a:extLst xmlns:a="http://schemas.openxmlformats.org/drawingml/2006/main">
              <a:ext uri="{FF2B5EF4-FFF2-40B4-BE49-F238E27FC236}">
                <a16:creationId xmlns:a16="http://schemas.microsoft.com/office/drawing/2014/main" id="{A7C3A832-1CD3-4DE6-9F26-D706EDBBD105}"/>
              </a:ext>
            </a:extLst>
          </p:cNvPr>
          <p:cNvSpPr>
            <a:spLocks xmlns:a="http://schemas.openxmlformats.org/drawingml/2006/main" noGrp="1"/>
          </p:cNvSpPr>
          <p:nvPr/>
        </p:nvSpPr>
        <p:spPr>
          <a:xfrm xmlns:a="http://schemas.openxmlformats.org/drawingml/2006/main">
            <a:off x="1314450" y="539115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  outputs/metrics.csv</a:t>
            </a:r>
          </a:p>
        </p:txBody>
      </p:sp>
      <p:sp>
        <p:nvSpPr>
          <p:cNvPr id="17" name="s8-line-14">
            <a:extLst xmlns:a="http://schemas.openxmlformats.org/drawingml/2006/main">
              <a:ext uri="{FF2B5EF4-FFF2-40B4-BE49-F238E27FC236}">
                <a16:creationId xmlns:a16="http://schemas.microsoft.com/office/drawing/2014/main" id="{784B9BB5-B936-4A05-B51B-3226B46610D4}"/>
              </a:ext>
            </a:extLst>
          </p:cNvPr>
          <p:cNvSpPr>
            <a:spLocks xmlns:a="http://schemas.openxmlformats.org/drawingml/2006/main" noGrp="1"/>
          </p:cNvSpPr>
          <p:nvPr/>
        </p:nvSpPr>
        <p:spPr>
          <a:xfrm xmlns:a="http://schemas.openxmlformats.org/drawingml/2006/main">
            <a:off x="1314450" y="5667375"/>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  outputs/briefing.txt</a:t>
            </a:r>
          </a:p>
        </p:txBody>
      </p:sp>
      <p:sp>
        <p:nvSpPr>
          <p:cNvPr id="18" name="s8-line-15">
            <a:extLst xmlns:a="http://schemas.openxmlformats.org/drawingml/2006/main">
              <a:ext uri="{FF2B5EF4-FFF2-40B4-BE49-F238E27FC236}">
                <a16:creationId xmlns:a16="http://schemas.microsoft.com/office/drawing/2014/main" id="{B95C72DD-8A47-4C73-82D9-B6F2DA2F8137}"/>
              </a:ext>
            </a:extLst>
          </p:cNvPr>
          <p:cNvSpPr>
            <a:spLocks xmlns:a="http://schemas.openxmlformats.org/drawingml/2006/main" noGrp="1"/>
          </p:cNvSpPr>
          <p:nvPr/>
        </p:nvSpPr>
        <p:spPr>
          <a:xfrm xmlns:a="http://schemas.openxmlformats.org/drawingml/2006/main">
            <a:off x="1314450" y="5943600"/>
            <a:ext cx="1261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DCE8F2"/>
                </a:solidFill>
                <a:latin typeface="Courier New"/>
                <a:ea typeface="Courier New"/>
                <a:cs typeface="Courier New"/>
              </a:defRPr>
            </a:pPr>
            <a:r>
              <a:rPr sz="1500" b="0">
                <a:solidFill>
                  <a:srgbClr val="DCE8F2"/>
                </a:solidFill>
                <a:latin typeface="Courier New"/>
                <a:ea typeface="Courier New"/>
                <a:cs typeface="Courier New"/>
              </a:rPr>
              <a:t>  evaluation/evaluation.json</a:t>
            </a:r>
          </a:p>
        </p:txBody>
      </p:sp>
      <p:sp>
        <p:nvSpPr>
          <p:cNvPr id="19" name="footer-8-label">
            <a:extLst xmlns:a="http://schemas.openxmlformats.org/drawingml/2006/main">
              <a:ext uri="{FF2B5EF4-FFF2-40B4-BE49-F238E27FC236}">
                <a16:creationId xmlns:a16="http://schemas.microsoft.com/office/drawing/2014/main" id="{8E93D845-A7D6-4069-B7B0-25C3C6AF451E}"/>
              </a:ext>
            </a:extLst>
          </p:cNvPr>
          <p:cNvSpPr>
            <a:spLocks xmlns:a="http://schemas.openxmlformats.org/drawingml/2006/main" noGrp="1"/>
          </p:cNvSpPr>
          <p:nvPr/>
        </p:nvSpPr>
        <p:spPr>
          <a:xfrm xmlns:a="http://schemas.openxmlformats.org/drawingml/2006/main">
            <a:off x="933450" y="8191500"/>
            <a:ext cx="1190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8894A0"/>
                </a:solidFill>
                <a:latin typeface="Arial"/>
                <a:ea typeface="Arial"/>
                <a:cs typeface="Arial"/>
              </a:defRPr>
            </a:pPr>
            <a:r>
              <a:rPr sz="1125" b="0">
                <a:solidFill>
                  <a:srgbClr val="8894A0"/>
                </a:solidFill>
                <a:latin typeface="Arial"/>
                <a:ea typeface="Arial"/>
                <a:cs typeface="Arial"/>
              </a:rPr>
              <a:t>Docker, Wi-Fi, NOAA, or OpenAI failure does not change the story</a:t>
            </a:r>
          </a:p>
        </p:txBody>
      </p:sp>
      <p:sp>
        <p:nvSpPr>
          <p:cNvPr id="20" name="footer-8-number">
            <a:extLst xmlns:a="http://schemas.openxmlformats.org/drawingml/2006/main">
              <a:ext uri="{FF2B5EF4-FFF2-40B4-BE49-F238E27FC236}">
                <a16:creationId xmlns:a16="http://schemas.microsoft.com/office/drawing/2014/main" id="{7D80C56A-31E9-4EBE-B653-8F8A3845BC0F}"/>
              </a:ext>
            </a:extLst>
          </p:cNvPr>
          <p:cNvSpPr>
            <a:spLocks xmlns:a="http://schemas.openxmlformats.org/drawingml/2006/main" noGrp="1"/>
          </p:cNvSpPr>
          <p:nvPr/>
        </p:nvSpPr>
        <p:spPr>
          <a:xfrm xmlns:a="http://schemas.openxmlformats.org/drawingml/2006/main">
            <a:off x="13811250" y="8191500"/>
            <a:ext cx="495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0">
                <a:solidFill>
                  <a:srgbClr val="8894A0"/>
                </a:solidFill>
                <a:latin typeface="Arial"/>
                <a:ea typeface="Arial"/>
                <a:cs typeface="Arial"/>
              </a:defRPr>
            </a:pPr>
            <a:r>
              <a:rPr sz="1125" b="0">
                <a:solidFill>
                  <a:srgbClr val="8894A0"/>
                </a:solidFill>
                <a:latin typeface="Arial"/>
                <a:ea typeface="Arial"/>
                <a:cs typeface="Arial"/>
              </a:rPr>
              <a:t>8</a:t>
            </a:r>
          </a:p>
        </p:txBody>
      </p:sp>
    </p:spTree>
    <p:extLst>
      <p:ext uri="{BB962C8B-B14F-4D97-AF65-F5344CB8AC3E}">
        <p14:creationId xmlns:p14="http://schemas.microsoft.com/office/powerpoint/2010/main" val="11287198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2026-08-13T13:12:55.5500000Z</dcterms:created>
  <dcterms:modified xsi:type="dcterms:W3CDTF">2026-08-13T13:12:55.5500000Z</dcterms:modified>
</coreProperties>
</file>